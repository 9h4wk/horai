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777240"/>
            <a:ext cx="1371600" cy="0"/>
          </a:xfrm>
          <a:prstGeom prst="line">
            <a:avLst/>
          </a:prstGeom>
          <a:noFill/>
          <a:ln w="31750">
            <a:solidFill>
              <a:srgbClr val="C8A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YEAR PROJECT DEFENCE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Enhancing Web-Based Recruitment for Efficient Candidate Selection Through Resume Screening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36118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— an AI-assisted recruitment portal for HORAI Labs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4343400"/>
            <a:ext cx="1042416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RYAN MASHETI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SCT221-C004-0507/2022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Supervisor: Mr. Vincent Omwoma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2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Jomo Kenyatta University of Agriculture and Technology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2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School of Computing and Information Technology · B.Sc. Information Technology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1100023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6364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· problem · objectives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71600" y="231343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6364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e-recruitment &amp; AI screening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71600" y="295351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Methodology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63640" y="29718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· SDLC · requirements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371600" y="359359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Analysis &amp; Design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63640" y="3611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· data · pipeline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71600" y="423367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63640" y="4251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· features · ranking engine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371600" y="487375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&amp; Results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26364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· KPIs · bias monitoring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371600" y="5513832"/>
            <a:ext cx="10222992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71600" y="5532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Recommendations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263640" y="5532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findings · limits · next steps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6492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Recruitment is a core talent-acquisition function; digital transformation moved it from paper to the web.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E-recruitment widened reach — employers now receive hundreds to thousands of applications per role.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persistent bottleneck is initial screening and shortlisting of candidates.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review cannot scale with application volume, so time, cost and quality all suffer.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39776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20116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250–500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06640" y="30175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per corporate job posting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4160520"/>
            <a:ext cx="3977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4846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&amp; shortlisting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5394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step that cannot scale manually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1100023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application volume makes manual resume screening slow, time-consuming and inconsistent.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Recruiters fall back on keyword scans and quick visual checks — qualified candidates are missed.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evaluation is prone to unconscious bias — confirmation, affinity, halo and anchoring.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ATS tools handle administration, not intelligent evaluation; AI platforms are costly for SMEs.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effect: delayed hiring, higher costs, vacant roles and reduced fairness.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1000232" cy="868680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  </a:t>
            </a:r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Develop, implement and evaluate an AI-enhanced web recruitment system that improves the efficiency, accuracy and fairness of candidate screening.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11000232" cy="710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734056"/>
            <a:ext cx="2743200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&amp; Research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734056"/>
            <a:ext cx="766267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existing systems and select suitable AI / NLP techniques for resume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573018"/>
            <a:ext cx="11000232" cy="710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701034"/>
            <a:ext cx="2743200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701034"/>
            <a:ext cx="766267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scalable architecture integrating recruitment with AI-driven resume evaluation.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539996"/>
            <a:ext cx="11000232" cy="710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" y="4668012"/>
            <a:ext cx="2743200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668012"/>
            <a:ext cx="766267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the system with a candidate-ranking algorithm and intuitive UI for seekers and recruiters.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5506974"/>
            <a:ext cx="11000232" cy="71094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" y="5634990"/>
            <a:ext cx="2743200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Evaluation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5634990"/>
            <a:ext cx="766267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screening against manual methods and produce documentation and training materials.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· 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&amp; Scope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a universal operational problem across industries and organisation sizes.</a:t>
            </a:r>
            <a:endParaRPr lang="en-US" sz="13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Adds empirical evidence on AI/NLP in HR — a relatively underexplored area.</a:t>
            </a:r>
            <a:endParaRPr lang="en-US" sz="13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fairer, less-biased hiring and the future-of-work shift to automation.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6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SCOPE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874520"/>
            <a:ext cx="5394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workflow: job posting → application → AI analysis → ranking.</a:t>
            </a:r>
            <a:endParaRPr lang="en-US" sz="135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both job seekers and recruiters via a responsive web platform.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220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43891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video interviews, personality or psychometric assessments.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credential verification; no third-party job-board integration.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Text-based analysis only — visual resume design is not scored.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· LITERATURE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E-Recruitment Evolution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Traditional: newspapers, agencies — manual, slow, geographically limited (Barber, 1998).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1990s–2000s: job boards (Monster, CareerBuilder), then Applicant Tracking Systems (Parry &amp; Tyson, 2008).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integrated e-recruitment with analytics, mobile and automation.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 HR: recruitment is the most common AI use-case (Tambe et al., 2019).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2743200"/>
            <a:ext cx="4206240" cy="0"/>
          </a:xfrm>
          <a:prstGeom prst="line">
            <a:avLst/>
          </a:prstGeom>
          <a:noFill/>
          <a:ln w="254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85432" y="2679192"/>
            <a:ext cx="128016" cy="128016"/>
          </a:xfrm>
          <a:prstGeom prst="ellipse">
            <a:avLst/>
          </a:prstGeom>
          <a:solidFill>
            <a:srgbClr val="1B4B6B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&amp; print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7220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pre-1990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87512" y="2679192"/>
            <a:ext cx="128016" cy="128016"/>
          </a:xfrm>
          <a:prstGeom prst="ellipse">
            <a:avLst/>
          </a:prstGeom>
          <a:solidFill>
            <a:srgbClr val="1B4B6B"/>
          </a:solidFill>
          <a:ln/>
        </p:spPr>
      </p:sp>
      <p:sp>
        <p:nvSpPr>
          <p:cNvPr id="10" name="Text 8"/>
          <p:cNvSpPr/>
          <p:nvPr/>
        </p:nvSpPr>
        <p:spPr>
          <a:xfrm>
            <a:off x="757428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boards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7428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89592" y="2679192"/>
            <a:ext cx="128016" cy="128016"/>
          </a:xfrm>
          <a:prstGeom prst="ellipse">
            <a:avLst/>
          </a:prstGeom>
          <a:solidFill>
            <a:srgbClr val="1B4B6B"/>
          </a:solidFill>
          <a:ln/>
        </p:spPr>
      </p:sp>
      <p:sp>
        <p:nvSpPr>
          <p:cNvPr id="13" name="Text 11"/>
          <p:cNvSpPr/>
          <p:nvPr/>
        </p:nvSpPr>
        <p:spPr>
          <a:xfrm>
            <a:off x="897636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ATS platforms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7636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2000s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091672" y="2679192"/>
            <a:ext cx="128016" cy="12801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3784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screening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37844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931920"/>
            <a:ext cx="46634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4160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45720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reach to volume —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from volume to intelligence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· LITERATURE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NLP for Resume Analysis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64792"/>
            <a:ext cx="2651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NER &amp; parsing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764792"/>
            <a:ext cx="7616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Named-entity recognition extracts names, skills, dates and qualifications from unstructured resumes.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852928"/>
            <a:ext cx="110002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017520"/>
            <a:ext cx="2651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matching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03320" y="3017520"/>
            <a:ext cx="7616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embeddings recognise equivalence — “Python developer” ≈ “Python programmer”.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105656"/>
            <a:ext cx="110002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270248"/>
            <a:ext cx="2651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ranking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4270248"/>
            <a:ext cx="7616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Supervised classifiers and ensembles rank candidates (Singh &amp; Sharma, 2020).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5358384"/>
            <a:ext cx="1100023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5522976"/>
            <a:ext cx="26517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5522976"/>
            <a:ext cx="7616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quality depends on training-data diversity; biased data can amplify discrimination.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· LITERATURE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Solutions &amp; the Gap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TOOLS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51206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Talent — sourcing and recommendation, not full screening.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HireVue — AI video interviews; validity and bias concerns.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Pymetrics — gamified assessments; not resume screening.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Textio — optimises job descriptions, not screening.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463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 THIS PROJECT FILLS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63640" y="1874520"/>
            <a:ext cx="5394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affordable platform combines full ATS with validated AI screening.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is under-addressed — most tools are “black boxes”.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auditing is often missing from commercial tools.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SMEs are priced out of advanced platforms.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· RESEARCH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Mixed-methods: quantitative (screening accuracy, time, ranking consistency) + qualitative (user feedback).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Pragmatic paradigm — practical outcomes and problem-solving first.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 flow: requirements → design → development → testing → evaluation.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informs the next; findings feed back into refinement.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91640"/>
            <a:ext cx="4663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A6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2331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accuracy · processing time · ranking consistency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3840480"/>
            <a:ext cx="46634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448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experience · trust · adoption factors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· RESEARCH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Approach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49377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/ Scrum methodology with two-week sprints and iterative refinement.</a:t>
            </a:r>
            <a:endParaRPr lang="en-US" sz="14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16-week plan across six phases — analysis → design → development → testing → deployment → evaluation.</a:t>
            </a:r>
            <a:endParaRPr lang="en-US" sz="14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Iteration: results feed back to tune the AI model and database.</a:t>
            </a:r>
            <a:endParaRPr lang="en-US" sz="1400" dirty="0"/>
          </a:p>
        </p:txBody>
      </p:sp>
      <p:pic>
        <p:nvPicPr>
          <p:cNvPr id="5" name="Image 0" descr="X:\Searchera\.openclaw\tmp\deck\assets\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138647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0" y="5715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phases (from project plan)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· RESEARCH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&amp; Use Cases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6A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493776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(seeker / recruiter / admin) · job posting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upload + AI parsing · screening &amp; ranking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tracking · notifications · reporting · search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4315968"/>
            <a:ext cx="49377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≤10s · UI load ≤3s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HTTPS, bcrypt, RBAC (OWASP Top 10)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Privacy: DPA 2019 · availability 99.5% · WCAG 2.1 AA</a:t>
            </a:r>
            <a:endParaRPr lang="en-US" sz="1250" dirty="0"/>
          </a:p>
        </p:txBody>
      </p:sp>
      <p:pic>
        <p:nvPicPr>
          <p:cNvPr id="8" name="Image 0" descr="X:\Searchera\.openclaw\tmp\deck\assets\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912620"/>
            <a:ext cx="5715000" cy="3810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97880" y="621792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diagram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· RESEARCH 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Primary: structured interviews, questionnaires, observation of workflows.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Secondary: literature and security reports on existing platforms.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Comparative: same resumes screened manually vs AI, against an expert gold standard.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tests (t-tests, correlation) establish significance.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691640"/>
            <a:ext cx="46634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920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237744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Informed consent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Confidentiality &amp; anonymity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Voluntary participation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Departmental approval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Objectivity &amp; data integrity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· SYSTEM ANALYSIS &amp;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502920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Three-tier web application, with a screening module layered in.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— React single-page app (seeker + recruiter UIs).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— Node.js / Express REST API (auth, business logic).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— SQLite via sql.js (WASM), persisted to file.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screening — OpenAI (gpt-4o-mini) with a deterministic heuristic fallback.</a:t>
            </a:r>
            <a:endParaRPr lang="en-US" sz="1300" dirty="0"/>
          </a:p>
        </p:txBody>
      </p:sp>
      <p:pic>
        <p:nvPicPr>
          <p:cNvPr id="5" name="Image 0" descr="X:\Searchera\.openclaw\tmp\deck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630680"/>
            <a:ext cx="5806440" cy="3870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06440" y="576072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diagram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· SYSTEM ANALYSIS &amp;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627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06040" y="1627632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· roles (Seeker / Employer / Admin)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8524" y="16276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89036" y="1627632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employer profiles, industry, ratings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5528" y="232257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322576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postings: title, description, type, salary, deadline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7356" y="2249424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78524" y="232257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9036" y="2322576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· match_score · fit_tier · screening_json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2944368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5528" y="30175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3017520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uploaded file + AI analysis_json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7356" y="2944368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8524" y="30175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9036" y="3017520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alerts · read state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639312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5528" y="371246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interview_sessions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3712464"/>
            <a:ext cx="31226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· answers · score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598932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(sql.js / WASM) · bcrypt password hashing · schema normalised with foreign keys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· SYSTEM ANALYSIS &amp;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Screening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0848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670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 ingestion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/ DOCX / TXT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&amp; text extraction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7752" y="2980944"/>
            <a:ext cx="164592" cy="164592"/>
          </a:xfrm>
          <a:prstGeom prst="rightArrow">
            <a:avLst/>
          </a:prstGeom>
          <a:solidFill>
            <a:srgbClr val="C8A24B"/>
          </a:solidFill>
          <a:ln/>
        </p:spPr>
      </p:sp>
      <p:sp>
        <p:nvSpPr>
          <p:cNvPr id="9" name="Shape 7"/>
          <p:cNvSpPr/>
          <p:nvPr/>
        </p:nvSpPr>
        <p:spPr>
          <a:xfrm>
            <a:off x="2852928" y="192024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52928" y="20848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52928" y="2670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 extraction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requirements +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profile / CV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980944"/>
            <a:ext cx="164592" cy="164592"/>
          </a:xfrm>
          <a:prstGeom prst="rightArrow">
            <a:avLst/>
          </a:prstGeom>
          <a:solidFill>
            <a:srgbClr val="C8A24B"/>
          </a:solidFill>
          <a:ln/>
        </p:spPr>
      </p:sp>
      <p:sp>
        <p:nvSpPr>
          <p:cNvPr id="14" name="Shape 12"/>
          <p:cNvSpPr/>
          <p:nvPr/>
        </p:nvSpPr>
        <p:spPr>
          <a:xfrm>
            <a:off x="5111496" y="192024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11496" y="20848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11496" y="2670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48656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Heuristic overlap,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enhancement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04888" y="2980944"/>
            <a:ext cx="164592" cy="164592"/>
          </a:xfrm>
          <a:prstGeom prst="rightArrow">
            <a:avLst/>
          </a:prstGeom>
          <a:solidFill>
            <a:srgbClr val="C8A24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70064" y="192024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70064" y="20848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70064" y="2670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07224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score 0–100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+ 5 fit tiers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63456" y="2980944"/>
            <a:ext cx="164592" cy="164592"/>
          </a:xfrm>
          <a:prstGeom prst="rightArrow">
            <a:avLst/>
          </a:prstGeom>
          <a:solidFill>
            <a:srgbClr val="C8A24B"/>
          </a:solidFill>
          <a:ln/>
        </p:spPr>
      </p:sp>
      <p:sp>
        <p:nvSpPr>
          <p:cNvPr id="24" name="Shape 22"/>
          <p:cNvSpPr/>
          <p:nvPr/>
        </p:nvSpPr>
        <p:spPr>
          <a:xfrm>
            <a:off x="9628632" y="192024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628632" y="208483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28632" y="26700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65792" y="320040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 · gaps ·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skill-match matrix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6634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Dual-mode: heuristic scoring always runs — the LLM refines it when an API key is configured.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68880" y="5120640"/>
            <a:ext cx="7223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468880" y="5257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TIERS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8880" y="559612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 ≥85  ·  Strong ≥70  ·  Moderate ≥55  ·  Weak ≥40  ·  Poor &lt;40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·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1000232" cy="78638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" y="155448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97480" y="1554480"/>
            <a:ext cx="8622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· Vite 7 · Tailwind CSS 4 · React Router 7 · lucide-react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505456"/>
            <a:ext cx="11000232" cy="78638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2505456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2505456"/>
            <a:ext cx="8622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 · Express 5 · JWT + bcrypt · multer uploads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56432"/>
            <a:ext cx="11000232" cy="78638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" y="3456432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3456432"/>
            <a:ext cx="8622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via sql.js (WASM) — persisted to searchera.sqlite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407408"/>
            <a:ext cx="11000232" cy="78638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" y="440740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4407408"/>
            <a:ext cx="8622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gpt-4o-mini (optional Grok) + deterministic heuristic fallback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5358384"/>
            <a:ext cx="11000232" cy="786384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5358384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5358384"/>
            <a:ext cx="8622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pdf-parse for PDF CV text extraction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6355080"/>
            <a:ext cx="1100023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" y="6355080"/>
            <a:ext cx="10488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without an API key — </a:t>
            </a:r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falls back to local heuristics, so the demo works fully offline.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·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Seeker Portal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4480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and search jobs with filters; view details and apply.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+ CV upload with AI parsing (auto-fills headline, skills, experience).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application status and receive notifications.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463040"/>
            <a:ext cx="3724461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pic>
        <p:nvPicPr>
          <p:cNvPr id="6" name="Image 0" descr="X:\Searchera\.openclaw\tmp\deck\assets\j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3724461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3840480"/>
            <a:ext cx="3724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listings &amp; search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4160520"/>
            <a:ext cx="3134226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pic>
        <p:nvPicPr>
          <p:cNvPr id="9" name="Image 1" descr="X:\Searchera\.openclaw\tmp\deck\assets\resu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60520"/>
            <a:ext cx="3134226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6080760"/>
            <a:ext cx="3134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upload &amp; AI parse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·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Employer &amp; Admin Desk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54480"/>
            <a:ext cx="4480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and manage jobs; review applications end-to-end.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 shortlist with match scores, tiers and explanations.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/ reject with comments; notifications to candidates.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 user management, analytics, system oversight.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0" y="1463040"/>
            <a:ext cx="5854321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pic>
        <p:nvPicPr>
          <p:cNvPr id="6" name="Image 0" descr="X:\Searchera\.openclaw\tmp\deck\asset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5854321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3749040"/>
            <a:ext cx="58543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4069080"/>
            <a:ext cx="319004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pic>
        <p:nvPicPr>
          <p:cNvPr id="9" name="Image 1" descr="X:\Searchera\.openclaw\tmp\deck\assets\jobp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069080"/>
            <a:ext cx="3190042" cy="1874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6035040"/>
            <a:ext cx="3190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posting form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·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Screening &amp; Ranking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49377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heuristic always runs: skill-overlap scoring + profile completeness.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enhances when configured — fair, specific, concise scoring.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Output: match score 0–100, fit tier, recommendation, strengths and gaps.</a:t>
            </a:r>
            <a:endParaRPr lang="en-US" sz="1300" dirty="0"/>
          </a:p>
        </p:txBody>
      </p:sp>
      <p:pic>
        <p:nvPicPr>
          <p:cNvPr id="5" name="Image 0" descr="X:\Searchera\.openclaw\tmp\deck\assets\short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874646"/>
            <a:ext cx="6126480" cy="3383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32120" y="56692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AI-ranked candidate shortlist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· 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Screening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4937760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ranking is justified: strengths, gaps and a per-skill match matrix.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Recruiters see which requirements are met vs not met.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 + experience/education fit — supports audit and compliance.</a:t>
            </a:r>
            <a:endParaRPr lang="en-US" sz="130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 builds trust in AI-assisted decisions.</a:t>
            </a:r>
            <a:endParaRPr lang="en-US" sz="1300" dirty="0"/>
          </a:p>
        </p:txBody>
      </p:sp>
      <p:pic>
        <p:nvPicPr>
          <p:cNvPr id="5" name="Image 0" descr="X:\Searchera\.openclaw\tmp\deck\assets\explain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554480"/>
            <a:ext cx="5878872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5760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detail 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6 · EVALUATION &amp;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Strategy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10002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00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54680" y="1600200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in isolation — resume parser, scorer, auth.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532888"/>
            <a:ext cx="110002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532888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2532888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↔ screening service; data flows between tiers.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465576"/>
            <a:ext cx="110002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" y="3465576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54680" y="3465576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scenarios against the requirements spec.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4398264"/>
            <a:ext cx="110002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439826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4398264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Recruiters and seekers validate real-world workflows.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330952"/>
            <a:ext cx="1100023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0392" y="533095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5330952"/>
            <a:ext cx="81655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Precision, recall, F1 vs human expert judgement.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6 · EVALUATION &amp;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Performance Indicators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1000232" cy="65836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time reduction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06440" y="15544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decrease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75320" y="155448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vs after implementation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110002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Candidate ranking accuracy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2331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 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33172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recruiter feedback on top-10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08960"/>
            <a:ext cx="11000232" cy="65836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parsing accuracy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 extraction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310896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verification of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886200"/>
            <a:ext cx="110002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positive 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886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88620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high-ranked candidates rejected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663440"/>
            <a:ext cx="11000232" cy="658368"/>
          </a:xfrm>
          <a:prstGeom prst="rect">
            <a:avLst/>
          </a:prstGeom>
          <a:solidFill>
            <a:srgbClr val="F3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6344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satisfaction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46634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 / 5.0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75320" y="466344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post-usage Likert survey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5440680"/>
            <a:ext cx="11000232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4406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uptime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54406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5440680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603504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 defined in the project plan — to be measured during UAT and comparative evaluation.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6 · EVALUATION &amp; RESULTS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Monitoring &amp; Fairness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8521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screening outcomes across demographic groups to detect disparities.</a:t>
            </a:r>
            <a:endParaRPr lang="en-US" sz="14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training data for historical bias and mitigate it.</a:t>
            </a:r>
            <a:endParaRPr lang="en-US" sz="14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transparent explanations so humans can review and correct.</a:t>
            </a:r>
            <a:endParaRPr lang="en-US" sz="14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the NLP pipeline when mis-parsing or bias is discovered.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783080"/>
            <a:ext cx="4846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24688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ranks on</a:t>
            </a:r>
            <a:endParaRPr lang="en-US" sz="2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qualifications —</a:t>
            </a:r>
            <a:endParaRPr lang="en-US" sz="2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demographics.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7 · CONCLUSION &amp;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66751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a working AI-assisted recruitment portal — Searchera.</a:t>
            </a:r>
            <a:endParaRPr lang="en-US" sz="15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Automates the full loop: CV upload → parsing → screening → explainable ranking.</a:t>
            </a:r>
            <a:endParaRPr lang="en-US" sz="15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Dual-mode AI (OpenAI + heuristic) keeps it affordable and usable offline.</a:t>
            </a:r>
            <a:endParaRPr lang="en-US" sz="1500" dirty="0"/>
          </a:p>
          <a:p>
            <a:pPr marL="152400" indent="-1524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Directly targets the screening bottleneck, unconscious bias and SME accessibility.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223760" y="2377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23760" y="2880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end-to-end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59368" y="2377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59368" y="2880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ranking decision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94976" y="2377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94976" y="28803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offline / no key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7 · CONCLUSION &amp;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1100023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Quantitative UAT results are pending — KPI targets are defined, not yet measured.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(sql.js) used instead of the proposed PostgreSQL — fine for demo / single-node scale.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Heuristic fallback is not deep NLP (no fine-tuned transformer); deep analysis needs the API key.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credential verification; English-only text analysis.</a:t>
            </a:r>
            <a:endParaRPr lang="en-US" sz="1450" dirty="0"/>
          </a:p>
          <a:p>
            <a:pPr marL="152400" indent="-1524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third-party job-board or social-media integrations.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7 · CONCLUSION &amp;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27632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external job boards (LinkedIn, BrighterMonday, Fuzu).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0236" y="162763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54596" y="1627632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resume and credential verification.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249424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3225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322576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Introduce video interviews and psychometrics.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77356" y="2249424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0236" y="23225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54596" y="2322576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model learning from recruiter decisions.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2944368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0175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Multilingual NLP (e.g. Swahili).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7356" y="2944368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60236" y="30175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54596" y="3017520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Strengthened bias auditing and fairness metrics.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639312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3712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712464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Companion mobile application.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77356" y="3639312"/>
            <a:ext cx="531723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sx="100000" sy="100000" kx="0" ky="0" algn="bl" rotWithShape="0" blurRad="101600" dist="38100" dir="5400000">
              <a:srgbClr val="0F2B46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60236" y="371246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54596" y="3712464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analytics for hiring outcomes.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274552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6355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Searchera · Final Year Project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103120"/>
            <a:ext cx="1371600" cy="0"/>
          </a:xfrm>
          <a:prstGeom prst="line">
            <a:avLst/>
          </a:prstGeom>
          <a:noFill/>
          <a:ln w="31750">
            <a:solidFill>
              <a:srgbClr val="C8A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A24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48463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C7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Enhancing Web-Based Recruitment for Efficient Candidate Selection Through Resume Screening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5303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Ryan Masheti · SCT221-C004-0507/2022 · JKUAT SCIT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Web-Based Recruitment for Efficient Candidate Selection Through Resume Screening</dc:title>
  <dc:subject>PptxGenJS Presentation</dc:subject>
  <dc:creator>Ryan Masheti</dc:creator>
  <cp:lastModifiedBy>Ryan Masheti</cp:lastModifiedBy>
  <cp:revision>1</cp:revision>
  <dcterms:created xsi:type="dcterms:W3CDTF">2026-09-02T11:45:37Z</dcterms:created>
  <dcterms:modified xsi:type="dcterms:W3CDTF">2026-09-02T11:45:37Z</dcterms:modified>
</cp:coreProperties>
</file>