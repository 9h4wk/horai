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23" r:id="rId2"/>
    <p:sldId id="261" r:id="rId3"/>
    <p:sldId id="311" r:id="rId4"/>
    <p:sldId id="285" r:id="rId5"/>
    <p:sldId id="286" r:id="rId6"/>
    <p:sldId id="288" r:id="rId7"/>
    <p:sldId id="290" r:id="rId8"/>
    <p:sldId id="291" r:id="rId9"/>
    <p:sldId id="292" r:id="rId10"/>
    <p:sldId id="324" r:id="rId11"/>
    <p:sldId id="294" r:id="rId12"/>
    <p:sldId id="301" r:id="rId13"/>
    <p:sldId id="302" r:id="rId14"/>
    <p:sldId id="303" r:id="rId15"/>
    <p:sldId id="304" r:id="rId16"/>
    <p:sldId id="305" r:id="rId17"/>
    <p:sldId id="306" r:id="rId18"/>
    <p:sldId id="312" r:id="rId19"/>
    <p:sldId id="313" r:id="rId20"/>
    <p:sldId id="314" r:id="rId21"/>
    <p:sldId id="315" r:id="rId22"/>
    <p:sldId id="316" r:id="rId23"/>
    <p:sldId id="319" r:id="rId24"/>
    <p:sldId id="320" r:id="rId25"/>
    <p:sldId id="321" r:id="rId26"/>
    <p:sldId id="325" r:id="rId27"/>
    <p:sldId id="322" r:id="rId28"/>
    <p:sldId id="307" r:id="rId29"/>
    <p:sldId id="326" r:id="rId30"/>
    <p:sldId id="327" r:id="rId31"/>
    <p:sldId id="308" r:id="rId32"/>
    <p:sldId id="32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MAINA GUTHUA" initials="DM" lastIdx="9" clrIdx="0">
    <p:extLst>
      <p:ext uri="{19B8F6BF-5375-455C-9EA6-DF929625EA0E}">
        <p15:presenceInfo xmlns:p15="http://schemas.microsoft.com/office/powerpoint/2012/main" userId="S::dguthua@ndu.ac.ke::eb2bc8f2-9565-486d-8e76-87f8b9acc14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0" autoAdjust="0"/>
    <p:restoredTop sz="67835" autoAdjust="0"/>
  </p:normalViewPr>
  <p:slideViewPr>
    <p:cSldViewPr snapToGrid="0">
      <p:cViewPr varScale="1">
        <p:scale>
          <a:sx n="42" d="100"/>
          <a:sy n="42" d="100"/>
        </p:scale>
        <p:origin x="58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13T14:09:18.535" idx="8">
    <p:pos x="10" y="10"/>
    <p:text>TO BE REVIEWED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7-28T19:32:15.336" idx="7">
    <p:pos x="6073" y="1961"/>
    <p:text>Justify the 10% pilot study sample</p:text>
    <p:extLst>
      <p:ext uri="{C676402C-5697-4E1C-873F-D02D1690AC5C}">
        <p15:threadingInfo xmlns:p15="http://schemas.microsoft.com/office/powerpoint/2012/main" timeZoneBias="-18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9-20T09:14:37.3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16457 12876 0</inkml:trace>
  <inkml:trace contextRef="#ctx0" brushRef="#br0" timeOffset="6947.63">15346 12735 0</inkml:trace>
  <inkml:trace contextRef="#ctx0" brushRef="#br0" timeOffset="7154.05">15346 12735 0</inkml:trace>
  <inkml:trace contextRef="#ctx0" brushRef="#br0" timeOffset="7375.3">15346 12735 0</inkml:trace>
  <inkml:trace contextRef="#ctx0" brushRef="#br0" timeOffset="8858.34">14358 12594 0</inkml:trace>
  <inkml:trace contextRef="#ctx0" brushRef="#br0" timeOffset="27423.54">20038 12823 0</inkml:trace>
  <inkml:trace contextRef="#ctx0" brushRef="#br0" timeOffset="28032.04">20038 12823 0</inkml:trace>
  <inkml:trace contextRef="#ctx0" brushRef="#br0" timeOffset="41722.75">17815 11695 0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4DFA3-01EB-4B7D-B0FA-03FAC7423FBF}" type="datetimeFigureOut">
              <a:rPr lang="en-KE" smtClean="0"/>
              <a:t>29/09/2025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18C8BF-0E0B-4BB5-848E-E6AC1F33FB9A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9406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8C8BF-0E0B-4BB5-848E-E6AC1F33FB9A}" type="slidenum">
              <a:rPr lang="en-KE" smtClean="0"/>
              <a:t>5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7214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Four Phase Journey: From Theory to Practice</a:t>
            </a:r>
          </a:p>
          <a:p>
            <a:r>
              <a:rPr lang="en-US" b="1" dirty="0"/>
              <a:t>Key Point:</a:t>
            </a:r>
            <a:r>
              <a:rPr lang="en-US" dirty="0"/>
              <a:t> Outlines the four key phases of the research:</a:t>
            </a:r>
          </a:p>
          <a:p>
            <a:pPr lvl="1"/>
            <a:r>
              <a:rPr lang="en-US" dirty="0"/>
              <a:t>Vulnerability Identification</a:t>
            </a:r>
          </a:p>
          <a:p>
            <a:pPr lvl="1"/>
            <a:r>
              <a:rPr lang="en-US" dirty="0"/>
              <a:t>Requirement Definition</a:t>
            </a:r>
          </a:p>
          <a:p>
            <a:pPr lvl="1"/>
            <a:r>
              <a:rPr lang="en-US" dirty="0"/>
              <a:t>System Development</a:t>
            </a:r>
          </a:p>
          <a:p>
            <a:pPr lvl="1"/>
            <a:r>
              <a:rPr lang="en-US" dirty="0"/>
              <a:t>System Assessment</a:t>
            </a:r>
          </a:p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8C8BF-0E0B-4BB5-848E-E6AC1F33FB9A}" type="slidenum">
              <a:rPr lang="en-KE" smtClean="0"/>
              <a:t>14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100895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all about gathering and analyzing real time data while interacting with a sample group of users so as to understand and meet the system requirement.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Interviews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personal and unstructured discussions aimed at identifying participant’s emotions, feelings, and opinions regarding a specific research subject.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Questionnaires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either be structured to allow specific types of responses such as yes, no and likely scales or unstructured questions to enable the respondents to give responses as they wish</a:t>
            </a:r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8C8BF-0E0B-4BB5-848E-E6AC1F33FB9A}" type="slidenum">
              <a:rPr lang="en-KE" smtClean="0"/>
              <a:t>15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27172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non-probabilistic sampling technique; to be precise a purposive/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judgemental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sampling will be adopted to select a group of respondents that know, relates, or are proficient with the research subject. Purposive sampling will ensure that a particular subset of individuals is selected because they will fit a particular profile. However, due to time and resources limitation, the study will focus on 30 organizations, randomly selecting the respondents in those organizations.</a:t>
            </a:r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8C8BF-0E0B-4BB5-848E-E6AC1F33FB9A}" type="slidenum">
              <a:rPr lang="en-KE" smtClean="0"/>
              <a:t>16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485912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8C8BF-0E0B-4BB5-848E-E6AC1F33FB9A}" type="slidenum">
              <a:rPr lang="en-KE" smtClean="0"/>
              <a:t>19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29734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E1A2B-D414-C423-67BD-72FE8ECA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E572A-A8E3-1642-3B78-B6BA234F5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C9B57-6AE4-B9B6-CBF3-9523C7821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software architecture of this web application represents its logical implementation and deployment processes. It consists of a multi-layered design, including three main layers under the server-side logic and a separate layer for cross-cutting concerns. </a:t>
            </a:r>
          </a:p>
          <a:p>
            <a:r>
              <a:rPr lang="en-US" b="1" dirty="0"/>
              <a:t>Presentation Layer</a:t>
            </a:r>
            <a:r>
              <a:rPr lang="en-US" dirty="0"/>
              <a:t>: Manages the user interface and interactions using HTML, CSS, and JavaScript, accessible via devices like PCs, tablets, and smartphones.</a:t>
            </a:r>
          </a:p>
          <a:p>
            <a:r>
              <a:rPr lang="en-US" b="1" dirty="0"/>
              <a:t>Business Layer</a:t>
            </a:r>
            <a:r>
              <a:rPr lang="en-US" dirty="0"/>
              <a:t>: Handles core application logic, processes requests, and interacts with the data layer, implemented in languages such as Java, PHP, or Node.js.</a:t>
            </a:r>
          </a:p>
          <a:p>
            <a:r>
              <a:rPr lang="en-US" b="1" dirty="0"/>
              <a:t>Data Layer</a:t>
            </a:r>
            <a:r>
              <a:rPr lang="en-US" dirty="0"/>
              <a:t>: Manages data storage and retrieval, abstracting database operations. This system uses MongoDB (NoSQL).</a:t>
            </a:r>
          </a:p>
          <a:p>
            <a:r>
              <a:rPr lang="en-US" b="1" dirty="0"/>
              <a:t>Cross-Cutting Concerns</a:t>
            </a:r>
            <a:r>
              <a:rPr lang="en-US" dirty="0"/>
              <a:t>: Provides centralized functions like authentication, authorization, caching, logging, exception handling, and validation across all layers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71369-88E8-7348-C0E4-07A08A6E4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8C8BF-0E0B-4BB5-848E-E6AC1F33FB9A}" type="slidenum">
              <a:rPr lang="en-KE" smtClean="0"/>
              <a:t>20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37074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D70A9-546B-B96F-4C0B-2CFF24982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B9FCC-D24A-FB40-A621-2903BE04F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252D5-479E-093A-E1B6-C22FD11B0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32899-44D0-17C6-94F9-A015499DC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8C8BF-0E0B-4BB5-848E-E6AC1F33FB9A}" type="slidenum">
              <a:rPr lang="en-KE" smtClean="0"/>
              <a:t>21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82357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39C7-CB70-AC54-312D-D9EF16BB7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C40D2-2398-798D-8175-A6E1E9239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8AB3C-96CA-C223-966B-B407E2857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9A8B0-0700-0097-21CC-95BBA333A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8C8BF-0E0B-4BB5-848E-E6AC1F33FB9A}" type="slidenum">
              <a:rPr lang="en-KE" smtClean="0"/>
              <a:t>22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039869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ECBD6-64D8-C79B-F382-603F80CB6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89E230-94B2-052D-A33A-681740850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B2C47-D2DB-FFDD-588D-DB31B7FC5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case diagrams were used to understand the core functionalities and usage scenarios.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Components: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Actors: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Actors represent the external entities, such as people or other systems, that interact with the system being modeled.</a:t>
            </a:r>
            <a:endParaRPr lang="en-K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Cases: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cases represent the functional capabilities of the system from the user's perspective. </a:t>
            </a:r>
            <a:endParaRPr lang="en-K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Associations: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Associations are the connections drawn between actors and use cases, indicating which actors interact with which use cases.</a:t>
            </a:r>
            <a:endParaRPr lang="en-K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Boundary: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 boundary defines the scope of the system being modeled, enclosing the use cases that are part of the system.</a:t>
            </a:r>
            <a:endParaRPr lang="en-K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0325E-2AFE-DF13-1A7D-8B6416EFF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8C8BF-0E0B-4BB5-848E-E6AC1F33FB9A}" type="slidenum">
              <a:rPr lang="en-KE" smtClean="0"/>
              <a:t>23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10356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B6792-95A9-8FCA-FC73-102D5F2A6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80D34B-06DD-82F7-AF84-D75B29993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C0C4A-BD1D-500C-554B-4AFA9D503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Positioned horizontally across the top of the diagram, representing the key actors or system components involved in a specific process. </a:t>
            </a:r>
            <a:endParaRPr lang="en-K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Lifelines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Dashed lines that track the object's existence and involvement throughout the interaction timeline. These lifelines serve as a visual representation of an object's lifespan and participation in the system's workflow.</a:t>
            </a:r>
            <a:endParaRPr lang="en-K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Illustrate the communication and method calls between different objects. The arrows are carefully labeled to describe the specific nature of the interaction, whether synchronous (waiting for a response) or asynchronous (non-blocking).</a:t>
            </a:r>
            <a:endParaRPr lang="en-K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 of control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Narrow rectangular boxes positioned along the lifelines. They indicate when an object is actively processing or executing a specific method, highlighting the periods of active engagement for each system component. </a:t>
            </a:r>
            <a:endParaRPr lang="en-K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02867-76ED-BFE9-7292-58CFEC1C5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8C8BF-0E0B-4BB5-848E-E6AC1F33FB9A}" type="slidenum">
              <a:rPr lang="en-KE" smtClean="0"/>
              <a:t>24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57213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FF0C-325C-22BE-1CA9-52D9C9A0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61400-627A-1264-0158-255025F95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E69E9-5F2F-4C66-B322-404761BB7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activity diagram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illustrates the sequential workflow and process flow for users within the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CB4A8-645D-6502-5CE4-16F5B12DE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8C8BF-0E0B-4BB5-848E-E6AC1F33FB9A}" type="slidenum">
              <a:rPr lang="en-KE" smtClean="0"/>
              <a:t>25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81850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253EE-9D3A-5518-2C9C-23177A152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8B830-B276-60E7-ACE8-EC9547DEC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58DDB-C8A2-92CA-7F6D-F17E466E8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E2A18-365C-02E0-A8DB-A63CE99A3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8C8BF-0E0B-4BB5-848E-E6AC1F33FB9A}" type="slidenum">
              <a:rPr lang="en-KE" smtClean="0"/>
              <a:t>26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45229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017D6-38DB-F611-4BBB-AB1202F30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0CED7-E407-2FEE-08A9-E1207CC14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9AF15-E7CF-1CB7-EE14-354DA6AC7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database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represents a structured digital repository designed to efficiently store, manage, and retrieve information systematically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EC17F-4468-8A90-6689-F71EB0F4C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8C8BF-0E0B-4BB5-848E-E6AC1F33FB9A}" type="slidenum">
              <a:rPr lang="en-KE" smtClean="0"/>
              <a:t>27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08771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8F50-2747-4D95-B23F-CC1978F041B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42D1-9354-4CEF-9703-71D17A958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8F50-2747-4D95-B23F-CC1978F041B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42D1-9354-4CEF-9703-71D17A958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32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8F50-2747-4D95-B23F-CC1978F041B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42D1-9354-4CEF-9703-71D17A958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39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8F50-2747-4D95-B23F-CC1978F041B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42D1-9354-4CEF-9703-71D17A958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69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8F50-2747-4D95-B23F-CC1978F041B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42D1-9354-4CEF-9703-71D17A958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31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8F50-2747-4D95-B23F-CC1978F041B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42D1-9354-4CEF-9703-71D17A958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93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8F50-2747-4D95-B23F-CC1978F041B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42D1-9354-4CEF-9703-71D17A958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2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8F50-2747-4D95-B23F-CC1978F041B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42D1-9354-4CEF-9703-71D17A958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7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8F50-2747-4D95-B23F-CC1978F041B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42D1-9354-4CEF-9703-71D17A958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1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8F50-2747-4D95-B23F-CC1978F041B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42D1-9354-4CEF-9703-71D17A958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56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8F50-2747-4D95-B23F-CC1978F041B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42D1-9354-4CEF-9703-71D17A958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91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D8F50-2747-4D95-B23F-CC1978F041BE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542D1-9354-4CEF-9703-71D17A958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8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../Resources/How%20President%20Uhurus%20Council%20of%20Governors%20zoom%20meeting%20was%20interrupted%20by%20a%20hacker%20-%20Kenyan%20News%20Today%20(480p,%20h264,%20youtube).mp4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../Resources/Wasihi%20Gantt%20chart.png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../Resources/General%20System%20Overview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../Resources/Use%20Case%20Diagrams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../Resources/Wasihi%20Sequence%20Diagram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../Resources/Wasihi%20Activity%20Diagram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../Resources/DIAGRAM%20ZERO.pd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../Resources/Wasihi%20Entity%20Relationship%20Diagram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../Resources/Wasihi%20Logical%20Models.pdf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F8CAA-4ACB-1722-342B-A60614E77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93829F-9B33-5C92-AC09-8B4258927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142" y="1408922"/>
            <a:ext cx="10947862" cy="5058380"/>
          </a:xfrm>
        </p:spPr>
        <p:txBody>
          <a:bodyPr>
            <a:normAutofit/>
          </a:bodyPr>
          <a:lstStyle/>
          <a:p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MITIGATING EAVESDROPPING IN WEB CONFERENCING AND DOCUMENT COLLABORATION SYSTEM</a:t>
            </a:r>
            <a:endParaRPr lang="en-KE" dirty="0"/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lvl="8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DANIEL MAINA GUTHUA </a:t>
            </a:r>
          </a:p>
          <a:p>
            <a:pPr lvl="8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SCT221-C004-0403/2022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66D9DA-5656-F755-7FD3-74A3F08BB5F1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2057EE-4806-7649-7D73-B05540E3D42F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9CC8D3-5946-A9F9-A21A-D8E8ED553B7C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538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5410" y="1246288"/>
            <a:ext cx="11922710" cy="5570147"/>
          </a:xfrm>
        </p:spPr>
        <p:txBody>
          <a:bodyPr>
            <a:norm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Background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Commercial tools like Zoom and Teams face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security vulnerabilities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 (e.g., MITM attacks, data breaches).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Rising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SaaS costs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 strain budgets (Gartner, 2022).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Proposed system integrates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secure teleconferencing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 and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real-time document collaboration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.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Emphasizes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end-to-end encryption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,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role-based access control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, and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ISO/IEC 27001(2002)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 compliance.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Inspired by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Forrester’s rese</a:t>
            </a:r>
            <a:r>
              <a:rPr lang="en-US" b="1" dirty="0">
                <a:solidFill>
                  <a:srgbClr val="424242"/>
                </a:solidFill>
                <a:latin typeface="Times" panose="02020603050405020304" pitchFamily="18" charset="0"/>
              </a:rPr>
              <a:t>arch </a:t>
            </a:r>
            <a:r>
              <a:rPr lang="en-US" b="1" dirty="0">
                <a:latin typeface="Times" panose="02020603050405020304" pitchFamily="18" charset="0"/>
              </a:rPr>
              <a:t>(2023) on 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secure collaboration guidelines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311091" y="288758"/>
            <a:ext cx="5524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ONE: INTRODUCTION</a:t>
            </a:r>
          </a:p>
        </p:txBody>
      </p:sp>
    </p:spTree>
    <p:extLst>
      <p:ext uri="{BB962C8B-B14F-4D97-AF65-F5344CB8AC3E}">
        <p14:creationId xmlns:p14="http://schemas.microsoft.com/office/powerpoint/2010/main" val="3018643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E60A3-668F-E391-029E-E2CF43108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258CCD-1726-6249-0AEA-5D91ADA28C50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804A6B-AB0B-8C7A-A17F-4937DFE9F4E1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0711A0-09E6-64C8-DD35-17C4025F3CAD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86B10B0C-CA2B-6BFA-13ED-98F5E2DD3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64" y="1204725"/>
            <a:ext cx="11967099" cy="5515671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Problem Statement</a:t>
            </a:r>
          </a:p>
          <a:p>
            <a:pPr marL="457200" indent="-4572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Eavesdropping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 remains a major threat despite </a:t>
            </a:r>
            <a:r>
              <a:rPr lang="en-US" dirty="0">
                <a:latin typeface="Times" panose="02020603050405020304" pitchFamily="18" charset="0"/>
              </a:rPr>
              <a:t>Transport Layer Security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 and Multi-Factor Authorization.</a:t>
            </a:r>
          </a:p>
          <a:p>
            <a:pPr marL="457200" indent="-4572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34% of organizations reported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unauthorized access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 (</a:t>
            </a:r>
            <a:r>
              <a:rPr lang="en-US" b="0" i="0" dirty="0" err="1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Ponemon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, 2021).</a:t>
            </a:r>
          </a:p>
          <a:p>
            <a:pPr marL="457200" indent="-4572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Attackers exploit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unencrypted data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,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insecure APIs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, and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misconfigured access controls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eg</a:t>
            </a:r>
            <a:r>
              <a:rPr lang="en-US" dirty="0">
                <a:hlinkClick r:id="rId2" action="ppaction://hlinkfile"/>
              </a:rPr>
              <a:t> How President </a:t>
            </a:r>
            <a:r>
              <a:rPr lang="en-US" dirty="0" err="1">
                <a:hlinkClick r:id="rId2" action="ppaction://hlinkfile"/>
              </a:rPr>
              <a:t>Uhurus</a:t>
            </a:r>
            <a:r>
              <a:rPr lang="en-US" dirty="0">
                <a:hlinkClick r:id="rId2" action="ppaction://hlinkfile"/>
              </a:rPr>
              <a:t> Council of Governors zoom meeting was interrupted by a hacker</a:t>
            </a:r>
            <a:endParaRPr lang="en-US" b="0" i="0" dirty="0">
              <a:solidFill>
                <a:srgbClr val="424242"/>
              </a:solidFill>
              <a:effectLst/>
              <a:latin typeface="Times" panose="02020603050405020304" pitchFamily="18" charset="0"/>
            </a:endParaRPr>
          </a:p>
          <a:p>
            <a:pPr marL="457200" indent="-4572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Need for a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multi-layered security framework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 balancing usability, performance, and protection.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C1B01E-866A-8CF9-A9AE-79878ECDC23A}"/>
              </a:ext>
            </a:extLst>
          </p:cNvPr>
          <p:cNvSpPr txBox="1"/>
          <p:nvPr/>
        </p:nvSpPr>
        <p:spPr>
          <a:xfrm>
            <a:off x="2813940" y="288758"/>
            <a:ext cx="6472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ONE: INTRODUCTION CONT…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674C26-9071-D6E5-DAF6-B88C4AEDDF75}"/>
                  </a:ext>
                </a:extLst>
              </p14:cNvPr>
              <p14:cNvContentPartPr/>
              <p14:nvPr/>
            </p14:nvContentPartPr>
            <p14:xfrm>
              <a:off x="5168880" y="4210200"/>
              <a:ext cx="2045160" cy="425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674C26-9071-D6E5-DAF6-B88C4AEDDF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9520" y="4200840"/>
                <a:ext cx="2063880" cy="44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1105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71577-87C3-713B-BBA7-F5DBAA70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EA9C95-DD07-125D-F0B7-60C1C2AC6FCC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356210-C6C9-1D74-202C-50B89CBF78EA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CAC300-0990-0BBC-CD9F-310ED1454544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DE96F5FF-B546-7569-0F51-17EF7CEE0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472665"/>
            <a:ext cx="11219128" cy="4319533"/>
          </a:xfrm>
        </p:spPr>
        <p:txBody>
          <a:bodyPr>
            <a:normAutofit/>
          </a:bodyPr>
          <a:lstStyle/>
          <a:p>
            <a:pPr lvl="1"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dirty="0">
                <a:latin typeface="Times" panose="02020603050405020304" pitchFamily="18" charset="0"/>
                <a:cs typeface="Times New Roman" panose="02020603050405020304" pitchFamily="18" charset="0"/>
              </a:rPr>
              <a:t>vulnerabilities </a:t>
            </a:r>
            <a:r>
              <a:rPr lang="en-US" dirty="0">
                <a:latin typeface="Times" panose="02020603050405020304" pitchFamily="18" charset="0"/>
              </a:rPr>
              <a:t>which can be exploited for eavesdropping</a:t>
            </a:r>
            <a:r>
              <a:rPr lang="en-US" dirty="0">
                <a:latin typeface="Times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existing security measures </a:t>
            </a:r>
            <a:r>
              <a:rPr lang="en-US" sz="2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designed to mitigate eavesdropping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multi-layered security framework.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and evaluate effectiveness and reliability of proposed security framework.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user/admin security recommendations.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783487-2440-9079-D4AA-FAFF4F663D39}"/>
              </a:ext>
            </a:extLst>
          </p:cNvPr>
          <p:cNvSpPr txBox="1"/>
          <p:nvPr/>
        </p:nvSpPr>
        <p:spPr>
          <a:xfrm>
            <a:off x="1554481" y="288758"/>
            <a:ext cx="7281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ONE: INTRODUCTION CONT…</a:t>
            </a:r>
          </a:p>
        </p:txBody>
      </p:sp>
    </p:spTree>
    <p:extLst>
      <p:ext uri="{BB962C8B-B14F-4D97-AF65-F5344CB8AC3E}">
        <p14:creationId xmlns:p14="http://schemas.microsoft.com/office/powerpoint/2010/main" val="1138271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E798E-28E6-C60B-540F-9D02F76A2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3C32D4-6E5A-22B6-DC65-6D11530FE7F3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8784AA-4AF1-2F4F-0FA4-2B6E2BC5CAF9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24BA6D-FC85-FA0B-0ED3-D71101934288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C17307C3-9DE3-62FE-EEAE-0FBAD2705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204725"/>
            <a:ext cx="11219128" cy="5484833"/>
          </a:xfrm>
        </p:spPr>
        <p:txBody>
          <a:bodyPr>
            <a:normAutofit/>
          </a:bodyPr>
          <a:lstStyle/>
          <a:p>
            <a:pPr lvl="1" algn="l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Justification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unauthorized access using encryption.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Monitor/block suspicious activity in real time.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seamless collaboration without performance lag.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breaches by educating users</a:t>
            </a:r>
          </a:p>
          <a:p>
            <a:pPr lvl="1" algn="l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and Limitations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 organizations, institutions, remote teams.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software vulnerabilities, not hardware flaws.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user compliance, data availability, proprietary systems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1BCC2-339A-E7B6-D8F6-4135C99D9EF5}"/>
              </a:ext>
            </a:extLst>
          </p:cNvPr>
          <p:cNvSpPr txBox="1"/>
          <p:nvPr/>
        </p:nvSpPr>
        <p:spPr>
          <a:xfrm>
            <a:off x="2069433" y="288759"/>
            <a:ext cx="6766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ONE: INTRODUCTION CONT…</a:t>
            </a:r>
          </a:p>
        </p:txBody>
      </p:sp>
    </p:spTree>
    <p:extLst>
      <p:ext uri="{BB962C8B-B14F-4D97-AF65-F5344CB8AC3E}">
        <p14:creationId xmlns:p14="http://schemas.microsoft.com/office/powerpoint/2010/main" val="1178105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2DB5-5A76-851F-089A-43EB67937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C2F6D3-2A3E-CD84-1BC6-71A2A52484D0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2E8ED0-8F50-E708-CCBC-07C8D9444FA5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2D6C0C-F74A-3FE5-B222-2B91FECF1E08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9242A4F4-3527-340E-8AB1-26DB5CDBF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4725"/>
            <a:ext cx="12192000" cy="5653275"/>
          </a:xfrm>
        </p:spPr>
        <p:txBody>
          <a:bodyPr>
            <a:normAutofit/>
          </a:bodyPr>
          <a:lstStyle/>
          <a:p>
            <a:pPr lvl="1" algn="l"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Budget Summary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Budget: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Kshs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153,000.00</a:t>
            </a:r>
          </a:p>
          <a:p>
            <a:pPr marL="1257300" lvl="2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Kshs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60,000.00</a:t>
            </a:r>
          </a:p>
          <a:p>
            <a:pPr marL="1257300" lvl="2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 &amp; Domain: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Kshs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20,000.00</a:t>
            </a:r>
          </a:p>
          <a:p>
            <a:pPr marL="1257300" lvl="2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Elicitation: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Kshs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28,000.00</a:t>
            </a:r>
          </a:p>
          <a:p>
            <a:pPr marL="1257300" lvl="2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Kshs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3,000.00</a:t>
            </a:r>
          </a:p>
          <a:p>
            <a:pPr marL="1257300" lvl="2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Miscellaneous: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Kshs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42,000.00</a:t>
            </a:r>
          </a:p>
          <a:p>
            <a:pPr marL="358775" lvl="2" indent="-358775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Project schedule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4FA3C7-5E76-1810-34FA-04431CF2B6EA}"/>
              </a:ext>
            </a:extLst>
          </p:cNvPr>
          <p:cNvSpPr txBox="1"/>
          <p:nvPr/>
        </p:nvSpPr>
        <p:spPr>
          <a:xfrm>
            <a:off x="2974209" y="288759"/>
            <a:ext cx="6442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ONE: INTRODUCTION CONT…</a:t>
            </a:r>
          </a:p>
        </p:txBody>
      </p:sp>
    </p:spTree>
    <p:extLst>
      <p:ext uri="{BB962C8B-B14F-4D97-AF65-F5344CB8AC3E}">
        <p14:creationId xmlns:p14="http://schemas.microsoft.com/office/powerpoint/2010/main" val="1170577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9A28-303F-BFBB-1C47-20DF9622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C3B7F8-3008-AA5D-24B1-2070B4D846D3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7C3D57-B1B9-326D-5A55-EE91C33120E1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25CD11-CD69-7C6B-8282-EB2A849C2D52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D782EF73-15FA-4DC8-9A8B-86264528B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472665"/>
            <a:ext cx="11219128" cy="4319533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Historical Development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1964: First video conferencing at World’s Fair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Joskowicz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 2023)</a:t>
            </a:r>
            <a:endParaRPr lang="en-US" sz="2400" b="0" i="0" dirty="0">
              <a:solidFill>
                <a:srgbClr val="424242"/>
              </a:solidFill>
              <a:effectLst/>
              <a:latin typeface="Times" panose="02020603050405020304" pitchFamily="18" charset="0"/>
            </a:endParaRP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1990s–2000s: Rise of </a:t>
            </a:r>
            <a:r>
              <a:rPr lang="en-US" sz="2400" b="0" i="0" dirty="0" err="1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WebEx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, Skype, and iChat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(Tang et al., 2022). </a:t>
            </a:r>
            <a:endParaRPr lang="en-US" sz="2400" b="0" i="0" dirty="0">
              <a:solidFill>
                <a:srgbClr val="424242"/>
              </a:solidFill>
              <a:effectLst/>
              <a:latin typeface="Times" panose="02020603050405020304" pitchFamily="18" charset="0"/>
            </a:endParaRP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COVID-19: Accelerated adoption of platforms like Zoom and Teams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(Karl et al., 2021)</a:t>
            </a:r>
            <a:endParaRPr lang="en-US" sz="2400" b="0" i="0" dirty="0">
              <a:solidFill>
                <a:srgbClr val="424242"/>
              </a:solidFill>
              <a:effectLst/>
              <a:latin typeface="Times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Security Concerns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 Increased usage led to higher risks of eavesdropping and data breaches.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C01972-EF28-79D8-63AA-981957184B7A}"/>
              </a:ext>
            </a:extLst>
          </p:cNvPr>
          <p:cNvSpPr txBox="1"/>
          <p:nvPr/>
        </p:nvSpPr>
        <p:spPr>
          <a:xfrm>
            <a:off x="3311091" y="288759"/>
            <a:ext cx="6217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TWO: 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254655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DBC3-E0AA-7551-3552-1A4F588EB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B521AA-4CEF-602C-9178-D9BCB20444E1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B6CF91-151B-34C8-C37C-81D91E977B27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99F725-FB4B-FE6D-E889-05BE2C200E1D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CD2B5E0F-BE6D-FCBD-94B9-7E6921596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287851"/>
            <a:ext cx="11219128" cy="539222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Key Functions &amp; Capabilities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Core Functions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Real-time video/audio communication.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Document sharing and editing.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Messaging and file exchange.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Benefits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Enhances remote collaboration.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Boosts productivity and decision-making.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96C380-9BC0-CE7D-31FC-559EA4FB86A4}"/>
              </a:ext>
            </a:extLst>
          </p:cNvPr>
          <p:cNvSpPr txBox="1"/>
          <p:nvPr/>
        </p:nvSpPr>
        <p:spPr>
          <a:xfrm>
            <a:off x="2662990" y="288759"/>
            <a:ext cx="7443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TWO: LITERATURE REVIEW CONT…</a:t>
            </a:r>
          </a:p>
        </p:txBody>
      </p:sp>
    </p:spTree>
    <p:extLst>
      <p:ext uri="{BB962C8B-B14F-4D97-AF65-F5344CB8AC3E}">
        <p14:creationId xmlns:p14="http://schemas.microsoft.com/office/powerpoint/2010/main" val="1745886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B37C8-972D-C8F7-56F8-A5FD9DC13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40A1D3-F095-C382-B613-5E7BB4DF288A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A71129-F657-7B0C-A72E-C6E83E9B44BD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04A6A5-E5BD-7ABD-F120-A332C466CA83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844DB9FC-5783-3349-0EAF-2452130F4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204725"/>
            <a:ext cx="11219128" cy="5570149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System Elements &amp; Architecture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Key Components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WebRTC for real-time communication.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Role-Based Access Control (RBAC), MFA, and SSO.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End-to-end encryption and TLS.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Proposed Architecture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Secure SIP session encryption.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Dynamic DNS updates for seamless connectivity.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Cost-effective alternative to SaaS models.</a:t>
            </a:r>
          </a:p>
          <a:p>
            <a:pPr lvl="1" algn="l"/>
            <a:endParaRPr lang="en-US" sz="2400" dirty="0">
              <a:latin typeface="Times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01C286-AC23-A679-1670-4B266A1DA7D4}"/>
              </a:ext>
            </a:extLst>
          </p:cNvPr>
          <p:cNvSpPr txBox="1"/>
          <p:nvPr/>
        </p:nvSpPr>
        <p:spPr>
          <a:xfrm>
            <a:off x="2358187" y="288760"/>
            <a:ext cx="7603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TWO: LITERATURE REVIEW CONT…</a:t>
            </a:r>
          </a:p>
        </p:txBody>
      </p:sp>
    </p:spTree>
    <p:extLst>
      <p:ext uri="{BB962C8B-B14F-4D97-AF65-F5344CB8AC3E}">
        <p14:creationId xmlns:p14="http://schemas.microsoft.com/office/powerpoint/2010/main" val="2294033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CA14-5E61-A4F8-6A66-3E7F623AA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D8BA18-3C34-C44E-5885-B3775358F4F4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B250DB-DDCF-EC1D-3C28-0E62B7DF348B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1BB59E-CAC0-6BA4-2BCC-BB3C48707774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F6C99894-868B-9DBA-5CD8-EE38CA176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204725"/>
            <a:ext cx="11219128" cy="5570149"/>
          </a:xfrm>
        </p:spPr>
        <p:txBody>
          <a:bodyPr>
            <a:normAutofit/>
          </a:bodyPr>
          <a:lstStyle/>
          <a:p>
            <a:pPr lvl="1" algn="l"/>
            <a:endParaRPr lang="en-US" sz="2400" dirty="0">
              <a:latin typeface="Times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9B17FE-FC1D-402A-3579-3C63A06F1D27}"/>
              </a:ext>
            </a:extLst>
          </p:cNvPr>
          <p:cNvSpPr txBox="1"/>
          <p:nvPr/>
        </p:nvSpPr>
        <p:spPr>
          <a:xfrm>
            <a:off x="2358187" y="288760"/>
            <a:ext cx="7603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TWO: LITERATURE REVIEW CONT…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D8909F-777D-1D8D-C18A-DA6411480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33" y="750426"/>
            <a:ext cx="10322327" cy="594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25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E8070-DEF5-3CBB-98D7-65C517C3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71368E-7A8E-7B35-150A-645C4BF4C6E7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4DE69B0-A44F-6C87-6F0D-656F2534BB08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9BFCD8-290E-10B0-82D8-1E3F6ABBD585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5873F01D-3510-F51B-2E41-900BC3ACA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153207"/>
            <a:ext cx="11219128" cy="5536351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Trends, Challenges &amp; Recommendations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Future Trends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AI for workflow automation and analytics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(Court, 2024). </a:t>
            </a:r>
            <a:endParaRPr lang="en-US" sz="2400" b="0" i="0" dirty="0">
              <a:solidFill>
                <a:srgbClr val="424242"/>
              </a:solidFill>
              <a:effectLst/>
              <a:latin typeface="Times" panose="02020603050405020304" pitchFamily="18" charset="0"/>
            </a:endParaRP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AR/VR for immersive collaboration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Joskowicz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 2023; Mahboubi et al., 2024). </a:t>
            </a:r>
            <a:endParaRPr lang="en-US" sz="2400" b="0" i="0" dirty="0">
              <a:solidFill>
                <a:srgbClr val="424242"/>
              </a:solidFill>
              <a:effectLst/>
              <a:latin typeface="Times" panose="02020603050405020304" pitchFamily="18" charset="0"/>
            </a:endParaRP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Enhanced cybersecurity protocols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(Court, 2024).</a:t>
            </a:r>
            <a:endParaRPr lang="en-US" sz="2400" b="0" i="0" dirty="0">
              <a:solidFill>
                <a:srgbClr val="424242"/>
              </a:solidFill>
              <a:effectLst/>
              <a:latin typeface="Times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Acquisition Challenges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High costs, limited customization, security gaps.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Open-source tools recommended for flexibility and cost-efficiency.</a:t>
            </a:r>
          </a:p>
          <a:p>
            <a:pPr lvl="1" algn="l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F0A89-C624-6569-A5BE-8D36EC61349B}"/>
              </a:ext>
            </a:extLst>
          </p:cNvPr>
          <p:cNvSpPr txBox="1"/>
          <p:nvPr/>
        </p:nvSpPr>
        <p:spPr>
          <a:xfrm>
            <a:off x="2582778" y="288761"/>
            <a:ext cx="7475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TWO: LITERATURE REVIEW CONT…</a:t>
            </a:r>
          </a:p>
        </p:txBody>
      </p:sp>
    </p:spTree>
    <p:extLst>
      <p:ext uri="{BB962C8B-B14F-4D97-AF65-F5344CB8AC3E}">
        <p14:creationId xmlns:p14="http://schemas.microsoft.com/office/powerpoint/2010/main" val="1886349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F3-EA59-7BB4-E438-35567E20D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D6C2B5-448B-5AA6-40A6-C245C2F23C0C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5FB0443-3ADD-90B9-3080-90FCB6F14E84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9D2766-5D27-B982-0589-9508F71960CF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6D63D57E-127C-99D4-FE7E-6A8A7C4CB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153207"/>
            <a:ext cx="11219128" cy="5704793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Standards &amp; Compliance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Security Standards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ISO/IEC 27001:2022 for information security management.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Benefits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Ensures confidentiality, integrity, and availability.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Builds user trust and regulatory compliance.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Conclusion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Secure, integrated platforms are essential for modern, remote collaboration.</a:t>
            </a:r>
          </a:p>
          <a:p>
            <a:pPr algn="l">
              <a:buNone/>
            </a:pPr>
            <a:endParaRPr lang="en-US" dirty="0">
              <a:latin typeface="Times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1A20CC-0C39-A680-A6E9-E14A69863EDF}"/>
              </a:ext>
            </a:extLst>
          </p:cNvPr>
          <p:cNvSpPr txBox="1"/>
          <p:nvPr/>
        </p:nvSpPr>
        <p:spPr>
          <a:xfrm>
            <a:off x="2813789" y="288760"/>
            <a:ext cx="7437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TWO: LITERATURE REVIEW CONT…</a:t>
            </a:r>
          </a:p>
        </p:txBody>
      </p:sp>
    </p:spTree>
    <p:extLst>
      <p:ext uri="{BB962C8B-B14F-4D97-AF65-F5344CB8AC3E}">
        <p14:creationId xmlns:p14="http://schemas.microsoft.com/office/powerpoint/2010/main" val="1864507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87515-1925-C325-57A0-CBF0C850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6CF613-B5F0-D253-73C3-97CB5B8271DC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7076FC-7B8D-9D03-8C52-1C4E4F6F63ED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88AA3A-3FE0-4D42-6547-00C8CBEDA56F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9569E0F2-02D5-042B-3F52-05248B8B9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153207"/>
            <a:ext cx="11219128" cy="5704793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Introduction &amp; Research Design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Purpose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 To outline the methodology for designing a secure web teleconferencing and real-time document collaboration system.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Research Design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Quasi-experimental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 approach.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Tests the</a:t>
            </a:r>
            <a:r>
              <a:rPr lang="en-US" sz="2400" dirty="0">
                <a:latin typeface="Times" panose="02020603050405020304" pitchFamily="18" charset="0"/>
              </a:rPr>
              <a:t> system in a real-world environment.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Ensures structured development and minimizes resource waste.</a:t>
            </a:r>
          </a:p>
          <a:p>
            <a:pPr algn="l">
              <a:buNone/>
            </a:pPr>
            <a:endParaRPr lang="en-US" dirty="0">
              <a:latin typeface="Times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018711-8089-3BAE-09FC-709249E16E80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THREE: RESEARCH METHODOLOGY</a:t>
            </a:r>
          </a:p>
        </p:txBody>
      </p:sp>
    </p:spTree>
    <p:extLst>
      <p:ext uri="{BB962C8B-B14F-4D97-AF65-F5344CB8AC3E}">
        <p14:creationId xmlns:p14="http://schemas.microsoft.com/office/powerpoint/2010/main" val="1655444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D1626-37AD-98E8-53D3-DDE47A781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6897A8-8E52-7BC4-E290-B5E6D101FDB0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243713-A2D0-2AE6-2EC1-7061C58649F2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4E0A87-FC53-D953-58CC-BFE9F69ACE11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4804BDE7-1035-0C6C-3B05-3B218C403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153207"/>
            <a:ext cx="11219128" cy="5704793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Research Method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Mixed-Methods Approach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Quantitative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 Structured data collection for generalizable results.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Qualitative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 In-depth understanding of phenomena.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Four Phases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Identify vulnerabilities in existing platforms.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Define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security, functional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 and non-functional requirements of the system.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Develop the system.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Assess security, usability, and cost-effectiveness.</a:t>
            </a:r>
          </a:p>
          <a:p>
            <a:pPr algn="l">
              <a:buNone/>
            </a:pPr>
            <a:endParaRPr lang="en-US" dirty="0">
              <a:latin typeface="Times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81B9B6-5FCA-B13B-5057-CD83508D4F48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THREE: RESEARCH METHODOLOGY CONT…</a:t>
            </a:r>
          </a:p>
        </p:txBody>
      </p:sp>
    </p:spTree>
    <p:extLst>
      <p:ext uri="{BB962C8B-B14F-4D97-AF65-F5344CB8AC3E}">
        <p14:creationId xmlns:p14="http://schemas.microsoft.com/office/powerpoint/2010/main" val="963076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2AC4E-E226-F3B8-C455-2C8241AFB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0811D3-596C-5F4B-8BA9-9CB936575DB5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0A5D09-807B-3E32-6FCC-CAF81A8D006E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9AAAC5-5D38-4AE4-E719-6CDDFA2ACCA3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2F1075A8-9995-3D9D-E53F-255989863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153207"/>
            <a:ext cx="11219128" cy="5704793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 </a:t>
            </a: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Data Collection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Primary Sources</a:t>
            </a:r>
            <a:r>
              <a:rPr lang="en-US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Observation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 Real-time user interaction.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In-depth Interviews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 Unstructured, emotional insights. Offer flexibility,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Levy and Ellis (2011)</a:t>
            </a:r>
            <a:endParaRPr lang="en-US" sz="2400" b="0" i="0" dirty="0">
              <a:solidFill>
                <a:srgbClr val="424242"/>
              </a:solidFill>
              <a:effectLst/>
              <a:latin typeface="Times" panose="02020603050405020304" pitchFamily="18" charset="0"/>
            </a:endParaRP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Questionnaires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 Both structured and unstructured formats.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424242"/>
                </a:solidFill>
                <a:latin typeface="Times" panose="02020603050405020304" pitchFamily="18" charset="0"/>
              </a:rPr>
              <a:t>Secondary Sources:</a:t>
            </a: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Review of existing literature and security reports on competing platforms</a:t>
            </a:r>
          </a:p>
          <a:p>
            <a:pPr algn="l">
              <a:buNone/>
            </a:pPr>
            <a:endParaRPr lang="en-US" dirty="0">
              <a:latin typeface="Times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0D5FB4-70AF-C05C-F2AF-C8C8A401CA01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THREE: RESEARCH METHODOLOGY CONT…</a:t>
            </a:r>
          </a:p>
        </p:txBody>
      </p:sp>
    </p:spTree>
    <p:extLst>
      <p:ext uri="{BB962C8B-B14F-4D97-AF65-F5344CB8AC3E}">
        <p14:creationId xmlns:p14="http://schemas.microsoft.com/office/powerpoint/2010/main" val="109967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C0579-E9CB-4F7A-A5F6-EAC5C3AF3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6F0DA9-8389-AA92-E3C2-2367EF42C569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AD0152-3865-61B3-7EFC-FA64605F0B2E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48CDEE-9987-B4DA-0263-FE329975E002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8106451E-2459-78FA-AD92-7A6CE06DE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153207"/>
            <a:ext cx="11219128" cy="5704793"/>
          </a:xfrm>
        </p:spPr>
        <p:txBody>
          <a:bodyPr>
            <a:normAutofit/>
          </a:bodyPr>
          <a:lstStyle/>
          <a:p>
            <a:pPr marL="457200" indent="-457200" algn="l">
              <a:lnSpc>
                <a:spcPct val="150000"/>
              </a:lnSpc>
              <a:spcBef>
                <a:spcPts val="975"/>
              </a:spcBef>
              <a:spcAft>
                <a:spcPts val="225"/>
              </a:spcAft>
              <a:buFont typeface="Wingdings" panose="05000000000000000000" pitchFamily="2" charset="2"/>
              <a:buChar char="ü"/>
            </a:pPr>
            <a:r>
              <a:rPr lang="en-US" sz="2800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Target Population, Reliability &amp; Validity</a:t>
            </a:r>
          </a:p>
          <a:p>
            <a:pPr marL="914400" lvl="1" indent="-4572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Target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 Corporate organizations in Nairobi using collaboration tools.</a:t>
            </a:r>
          </a:p>
          <a:p>
            <a:pPr marL="914400" lvl="1" indent="-4572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Sampling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 Purposive sampling of 30 organizations.</a:t>
            </a:r>
          </a:p>
          <a:p>
            <a:pPr marL="914400" lvl="1" indent="-4572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Reliability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 Test-retest method; pilot study with 10% of sample.</a:t>
            </a:r>
          </a:p>
          <a:p>
            <a:pPr marL="914400" lvl="1" indent="-4572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Validity</a:t>
            </a:r>
            <a:r>
              <a:rPr lang="en-US" sz="24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 Supervisor-reviewed instruments to ensure accuracy.</a:t>
            </a:r>
          </a:p>
          <a:p>
            <a:pPr algn="l">
              <a:buNone/>
            </a:pPr>
            <a:endParaRPr lang="en-US" dirty="0">
              <a:latin typeface="Times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55372-49FF-5959-9127-9568E10ECD7E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THREE: RESEARCH METHODOLOGY CONT…</a:t>
            </a:r>
          </a:p>
        </p:txBody>
      </p:sp>
    </p:spTree>
    <p:extLst>
      <p:ext uri="{BB962C8B-B14F-4D97-AF65-F5344CB8AC3E}">
        <p14:creationId xmlns:p14="http://schemas.microsoft.com/office/powerpoint/2010/main" val="915612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B2531-DF27-E056-F28A-93832EA73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7128E0-CA82-47CB-D27D-361322825FC6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8B8247-E8C2-0C09-EE7E-62B198C71EFB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7C5A0D-8430-A5AE-C923-2B77FBB98543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6A871F9D-30D4-B5AE-5AB2-7ACC12AED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153207"/>
            <a:ext cx="11219128" cy="5704793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sz="2800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Data Analysis &amp; Ethics</a:t>
            </a:r>
          </a:p>
          <a:p>
            <a:pPr marL="457200" indent="-4572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2800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Analysis</a:t>
            </a:r>
            <a:r>
              <a:rPr lang="en-US" sz="28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 Thematic analysis of interviews, observations, and questionnaires.</a:t>
            </a:r>
          </a:p>
          <a:p>
            <a:pPr marL="457200" indent="-4572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2800" b="1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Ethical Considerations</a:t>
            </a:r>
            <a:r>
              <a:rPr lang="en-US" sz="28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:</a:t>
            </a:r>
          </a:p>
          <a:p>
            <a:pPr marL="914400" lvl="1" indent="-4572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8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Informed consent.</a:t>
            </a:r>
          </a:p>
          <a:p>
            <a:pPr marL="914400" lvl="1" indent="-4572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8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Confidentiality and voluntary participation.</a:t>
            </a:r>
          </a:p>
          <a:p>
            <a:pPr marL="914400" lvl="1" indent="-4572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8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Approval from JKUAT IT Department.</a:t>
            </a:r>
          </a:p>
          <a:p>
            <a:pPr marL="914400" lvl="1" indent="-45720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2800" b="0" i="0" dirty="0">
                <a:solidFill>
                  <a:srgbClr val="424242"/>
                </a:solidFill>
                <a:effectLst/>
                <a:latin typeface="Times" panose="02020603050405020304" pitchFamily="18" charset="0"/>
              </a:rPr>
              <a:t>Objectivity and data integrity maintained.</a:t>
            </a:r>
          </a:p>
          <a:p>
            <a:pPr algn="l">
              <a:buNone/>
            </a:pPr>
            <a:endParaRPr lang="en-US" dirty="0">
              <a:latin typeface="Times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EF1840-A6E5-CDFC-43FB-6D230950D6A7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THREE: RESEARCH METHODOLOGY CONT…</a:t>
            </a:r>
          </a:p>
        </p:txBody>
      </p:sp>
    </p:spTree>
    <p:extLst>
      <p:ext uri="{BB962C8B-B14F-4D97-AF65-F5344CB8AC3E}">
        <p14:creationId xmlns:p14="http://schemas.microsoft.com/office/powerpoint/2010/main" val="1311671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31D90-439F-2179-CACF-ECA1B27D4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1AD132-3F18-7B91-2244-C91849B3C5B9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87CB81-BAC8-EC05-0308-3D9D1DFBD00B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6F8387-3AFF-F9E4-D448-246B2AB3406E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1E5B3D9A-883C-EE6B-944D-DE3D64166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153207"/>
            <a:ext cx="11219128" cy="5704793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" panose="02020603050405020304" pitchFamily="18" charset="0"/>
              </a:rPr>
              <a:t>Collecting and interpreting facts, identifying problems, decomposing a system into components (Chiang, 2009)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" panose="02020603050405020304" pitchFamily="18" charset="0"/>
              </a:rPr>
              <a:t>Existing solutions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" panose="02020603050405020304" pitchFamily="18" charset="0"/>
              </a:rPr>
              <a:t>Zoom - Zoombombing, weak encryption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" panose="02020603050405020304" pitchFamily="18" charset="0"/>
              </a:rPr>
              <a:t>Microsoft Teams- complex, costly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Times" panose="02020603050405020304" pitchFamily="18" charset="0"/>
              </a:rPr>
              <a:t>WebEx</a:t>
            </a:r>
            <a:r>
              <a:rPr lang="en-US" sz="2400" dirty="0">
                <a:latin typeface="Times" panose="02020603050405020304" pitchFamily="18" charset="0"/>
              </a:rPr>
              <a:t> – costly, complex to manage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" panose="02020603050405020304" pitchFamily="18" charset="0"/>
              </a:rPr>
              <a:t>Google Meet – lacks advanced security</a:t>
            </a:r>
          </a:p>
          <a:p>
            <a:pPr marL="358775" lvl="1" indent="-358775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" panose="02020603050405020304" pitchFamily="18" charset="0"/>
              </a:rPr>
              <a:t>Gap Identified: </a:t>
            </a:r>
            <a:r>
              <a:rPr lang="en-US" sz="2400" dirty="0">
                <a:latin typeface="Times" panose="02020603050405020304" pitchFamily="18" charset="0"/>
              </a:rPr>
              <a:t>Existing platforms are costly, lack comprehensive security, data protection, and seamless collaboration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0A5CFB-9591-9996-FEE9-6BBE16C825FA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FOUR: SYSTEM ANALYSIS</a:t>
            </a:r>
          </a:p>
        </p:txBody>
      </p:sp>
    </p:spTree>
    <p:extLst>
      <p:ext uri="{BB962C8B-B14F-4D97-AF65-F5344CB8AC3E}">
        <p14:creationId xmlns:p14="http://schemas.microsoft.com/office/powerpoint/2010/main" val="721367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CBE7C-B29F-41FA-EDE2-B96D2C040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891475-969E-E111-A8B4-79B7223014A5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7DFC18-BAFA-9B62-C84E-5340B8F32987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BAA368-5130-6B8E-5FC8-885EEAF7E0F7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56444EE8-CD16-E92F-0097-321CBF4F6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53207"/>
            <a:ext cx="12192000" cy="5704793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400" b="1" dirty="0">
                <a:latin typeface="Times" panose="02020603050405020304" pitchFamily="18" charset="0"/>
              </a:rPr>
              <a:t>Proposed System: Wasihi Web Teleconferencing &amp; Real-time Document Collaboration System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" panose="02020603050405020304" pitchFamily="18" charset="0"/>
              </a:rPr>
              <a:t>Features: </a:t>
            </a:r>
            <a:r>
              <a:rPr lang="en-US" sz="2400" dirty="0">
                <a:latin typeface="Times" panose="02020603050405020304" pitchFamily="18" charset="0"/>
              </a:rPr>
              <a:t>Real-time document editing &amp; sharing, Built-in audio/video conferencing, Advanced encryption, Calendar, task management</a:t>
            </a:r>
          </a:p>
          <a:p>
            <a:pPr marL="358775" lvl="1" indent="-358775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" panose="02020603050405020304" pitchFamily="18" charset="0"/>
              </a:rPr>
              <a:t>Requirements: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Functional: User registration &amp; authentication, real-time collaboration, encryption, audio/video communication, screen sharing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Non-Functional: Usability, performance, reliability, scalability.</a:t>
            </a:r>
          </a:p>
          <a:p>
            <a:pPr marL="358775" lvl="1" indent="-358775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" panose="02020603050405020304" pitchFamily="18" charset="0"/>
              </a:rPr>
              <a:t>Feasibility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Economic: Minimal costs after setup (open-source software).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Technical: Works with standard hardware &amp; Linux/MariaDB/MySQL.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Legal: Compliant with DPA 2019 &amp; CMCA 2018.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Times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5C0FC-5F4D-F02E-B1DF-E1785CC04756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FOUR: SYSTEM ANALYSIS CONT…</a:t>
            </a:r>
          </a:p>
        </p:txBody>
      </p:sp>
    </p:spTree>
    <p:extLst>
      <p:ext uri="{BB962C8B-B14F-4D97-AF65-F5344CB8AC3E}">
        <p14:creationId xmlns:p14="http://schemas.microsoft.com/office/powerpoint/2010/main" val="3655968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A0B6B-2F5B-E428-A114-D819B9481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DA0794-44AD-16B5-316D-7DD611D6D1F3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AF21C9-450E-E636-A5A4-EF57277145BB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DE5127-56CD-4344-93E4-DF79A795C51E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515C9265-EBFC-3AC5-B896-AE1459E9F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53207"/>
            <a:ext cx="12192000" cy="5704793"/>
          </a:xfrm>
        </p:spPr>
        <p:txBody>
          <a:bodyPr>
            <a:normAutofit/>
          </a:bodyPr>
          <a:lstStyle/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" panose="02020603050405020304" pitchFamily="18" charset="0"/>
              </a:rPr>
              <a:t>Software Architecture of Wasihi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C895D6-DC4C-B495-6C39-D3404431E811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FIVE: SYSTEM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DFDF10-1AC8-B37F-29FE-7BDB01DF1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525" y="1695673"/>
            <a:ext cx="8164239" cy="520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83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40D94-91D6-99F0-29F3-2FC1FDE7C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31138D-3BB8-2BA7-DC93-AFF2D45B093E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783BC0-A569-A5DA-F422-7054CB3AC461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6DE0B4-1ABD-18E2-2BE2-A40BE92717E7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B0DDF622-D9FF-F842-001D-633B090D8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53207"/>
            <a:ext cx="12192000" cy="5704793"/>
          </a:xfrm>
        </p:spPr>
        <p:txBody>
          <a:bodyPr>
            <a:normAutofit/>
          </a:bodyPr>
          <a:lstStyle/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" panose="02020603050405020304" pitchFamily="18" charset="0"/>
              </a:rPr>
              <a:t>Wasihi System Overview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" panose="02020603050405020304" pitchFamily="18" charset="0"/>
              </a:rPr>
              <a:t>Wasihi is a platform for web teleconferencing, real-time document editing and collaboration. 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" panose="02020603050405020304" pitchFamily="18" charset="0"/>
              </a:rPr>
              <a:t>It will require the bare minimum data (username and a password) before enabling communication and sharing of information. 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" panose="02020603050405020304" pitchFamily="18" charset="0"/>
              </a:rPr>
              <a:t>Wasihi will have the following modules: document sharing, document editing, audio/video chat, file access control, multi-layer encryption, and task management. 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" panose="02020603050405020304" pitchFamily="18" charset="0"/>
                <a:hlinkClick r:id="rId3" action="ppaction://hlinkfile"/>
              </a:rPr>
              <a:t>General overview of the system</a:t>
            </a:r>
            <a:endParaRPr lang="en-US" sz="2200" dirty="0">
              <a:latin typeface="Times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39D83B-6930-15E8-6329-37A6277AA407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FIVE: SYSTEM DESIGN CONT…</a:t>
            </a:r>
          </a:p>
        </p:txBody>
      </p:sp>
    </p:spTree>
    <p:extLst>
      <p:ext uri="{BB962C8B-B14F-4D97-AF65-F5344CB8AC3E}">
        <p14:creationId xmlns:p14="http://schemas.microsoft.com/office/powerpoint/2010/main" val="1362401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69C3B-1364-F612-4FDD-1D698BDA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708A07-70F7-E854-7812-23535E6F4156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43F420-0E84-03F8-8C4D-6C8E0EDAE22F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003F94-4912-083C-AC9B-031788693F3C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61EB24F3-ED38-3D76-6B0A-23C1E61A4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53207"/>
            <a:ext cx="12192000" cy="5704793"/>
          </a:xfrm>
        </p:spPr>
        <p:txBody>
          <a:bodyPr>
            <a:normAutofit/>
          </a:bodyPr>
          <a:lstStyle/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b="1" dirty="0">
                <a:latin typeface="Times" panose="02020603050405020304" pitchFamily="18" charset="0"/>
              </a:rPr>
              <a:t>Unified Modeling Language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Way of visualizing a software program using a collection of diagrams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Three types of UMLs used</a:t>
            </a:r>
          </a:p>
          <a:p>
            <a:pPr marL="1714500" lvl="3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Use Case Diagram</a:t>
            </a:r>
          </a:p>
          <a:p>
            <a:pPr marL="1714500" lvl="3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Sequence Diagram</a:t>
            </a:r>
          </a:p>
          <a:p>
            <a:pPr marL="1714500" lvl="3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Activity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7978B3-E520-0DE6-6E27-D4ACBCA7A2E2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FIVE: SYSTEM DESIGN CONT…</a:t>
            </a:r>
          </a:p>
        </p:txBody>
      </p:sp>
    </p:spTree>
    <p:extLst>
      <p:ext uri="{BB962C8B-B14F-4D97-AF65-F5344CB8AC3E}">
        <p14:creationId xmlns:p14="http://schemas.microsoft.com/office/powerpoint/2010/main" val="1046563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C3DE8-E489-9BF7-E8B1-3C0272A9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A8A1E3-8090-5C0D-4122-384642A60F71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781CFC0-362A-90C4-65A8-1992B7B1375A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71BA40-5E10-BFD8-203A-47CE87C25005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59274A9C-306D-B8C0-A4E4-E9E852AB3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53207"/>
            <a:ext cx="12192000" cy="5704793"/>
          </a:xfrm>
        </p:spPr>
        <p:txBody>
          <a:bodyPr>
            <a:normAutofit/>
          </a:bodyPr>
          <a:lstStyle/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" panose="02020603050405020304" pitchFamily="18" charset="0"/>
                <a:hlinkClick r:id="rId3" action="ppaction://hlinkfile"/>
              </a:rPr>
              <a:t>Use-case diagrams of the system and the subsystems: </a:t>
            </a:r>
            <a:endParaRPr lang="en-US" sz="2400" b="1" dirty="0">
              <a:latin typeface="Times" panose="02020603050405020304" pitchFamily="18" charset="0"/>
            </a:endParaRP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Wasihi System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Registration Subsystem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Administration Subsystem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Interaction Subsystem</a:t>
            </a:r>
          </a:p>
          <a:p>
            <a:pPr marL="2171700" lvl="4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400" dirty="0">
              <a:latin typeface="Times" panose="02020603050405020304" pitchFamily="18" charset="0"/>
            </a:endParaRP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200" dirty="0">
              <a:latin typeface="Times" panose="02020603050405020304" pitchFamily="18" charset="0"/>
            </a:endParaRP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200" dirty="0">
              <a:latin typeface="Times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8FC009-6532-9EC4-D8BA-E3FFD635A429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FIVE: SYSTEM DESIGN CONT…</a:t>
            </a:r>
          </a:p>
        </p:txBody>
      </p:sp>
    </p:spTree>
    <p:extLst>
      <p:ext uri="{BB962C8B-B14F-4D97-AF65-F5344CB8AC3E}">
        <p14:creationId xmlns:p14="http://schemas.microsoft.com/office/powerpoint/2010/main" val="2000928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85226-378F-804A-CD7B-EEF3942CD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6479DB-87DB-89DE-AFC6-17F3C4791CD4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548FE9-2202-BEDF-8425-9CC609C01EDF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EB75CA-1684-AD0F-F10D-8900C98F940C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1AE5944E-907F-3471-7430-EA50A9E55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53207"/>
            <a:ext cx="12192000" cy="5704793"/>
          </a:xfrm>
        </p:spPr>
        <p:txBody>
          <a:bodyPr>
            <a:normAutofit/>
          </a:bodyPr>
          <a:lstStyle/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" panose="02020603050405020304" pitchFamily="18" charset="0"/>
              </a:rPr>
              <a:t>Sequence Diagram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" panose="02020603050405020304" pitchFamily="18" charset="0"/>
              </a:rPr>
              <a:t>Displays participants horizontally &amp; interactions vertically revealing how different system elements exchange messages, execute operations, and collaborate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" panose="02020603050405020304" pitchFamily="18" charset="0"/>
              </a:rPr>
              <a:t>Four elements include:</a:t>
            </a:r>
          </a:p>
          <a:p>
            <a:pPr marL="1714500" lvl="3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Objects</a:t>
            </a:r>
          </a:p>
          <a:p>
            <a:pPr marL="1714500" lvl="3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Lifelines</a:t>
            </a:r>
          </a:p>
          <a:p>
            <a:pPr marL="1714500" lvl="3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Messages</a:t>
            </a:r>
          </a:p>
          <a:p>
            <a:pPr marL="1714500" lvl="3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Focus of control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" panose="02020603050405020304" pitchFamily="18" charset="0"/>
                <a:hlinkClick r:id="rId3" action="ppaction://hlinkfile"/>
              </a:rPr>
              <a:t>Sequence Diagram for the Wasihi System </a:t>
            </a:r>
            <a:endParaRPr lang="en-US" sz="2400" dirty="0">
              <a:latin typeface="Times" panose="02020603050405020304" pitchFamily="18" charset="0"/>
            </a:endParaRPr>
          </a:p>
          <a:p>
            <a:pPr marL="2171700" lvl="4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400" dirty="0">
              <a:latin typeface="Times" panose="02020603050405020304" pitchFamily="18" charset="0"/>
            </a:endParaRP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200" dirty="0">
              <a:latin typeface="Times" panose="02020603050405020304" pitchFamily="18" charset="0"/>
            </a:endParaRP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200" dirty="0">
              <a:latin typeface="Times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C7DC1A-C095-DBEF-E69E-44C37F8C6FFB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FIVE: SYSTEM DESIGN CONT…</a:t>
            </a:r>
          </a:p>
        </p:txBody>
      </p:sp>
    </p:spTree>
    <p:extLst>
      <p:ext uri="{BB962C8B-B14F-4D97-AF65-F5344CB8AC3E}">
        <p14:creationId xmlns:p14="http://schemas.microsoft.com/office/powerpoint/2010/main" val="3325503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5C141-B42C-DA7D-70D0-720124BD6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FF7887-EB4D-48E4-6262-9743E45E7138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0490A6-BD28-A63D-7D2A-0ABA847CB951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406D08-0EC1-A4B7-591B-8F81A6851271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71E70C67-C623-129B-2FA9-3F46A958A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53207"/>
            <a:ext cx="12192000" cy="5704793"/>
          </a:xfrm>
        </p:spPr>
        <p:txBody>
          <a:bodyPr>
            <a:normAutofit/>
          </a:bodyPr>
          <a:lstStyle/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" panose="02020603050405020304" pitchFamily="18" charset="0"/>
              </a:rPr>
              <a:t>Activity Diagram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" panose="02020603050405020304" pitchFamily="18" charset="0"/>
              </a:rPr>
              <a:t>Provides a graphical representation of the actions, decision points, and interactions involved in the web teleconferencing, real-time document editing and collaboration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" panose="02020603050405020304" pitchFamily="18" charset="0"/>
                <a:hlinkClick r:id="rId3" action="ppaction://hlinkfile"/>
              </a:rPr>
              <a:t>Activity Diagram for Wasihi System</a:t>
            </a:r>
            <a:endParaRPr lang="en-US" sz="2400" dirty="0">
              <a:latin typeface="Times" panose="02020603050405020304" pitchFamily="18" charset="0"/>
            </a:endParaRPr>
          </a:p>
          <a:p>
            <a:pPr lvl="2" algn="l">
              <a:lnSpc>
                <a:spcPct val="150000"/>
              </a:lnSpc>
            </a:pPr>
            <a:endParaRPr lang="en-US" sz="2200" dirty="0">
              <a:latin typeface="Times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0AA539-1A5F-1944-AC4B-8C8A9FAF4D07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FIVE: SYSTEM DESIGN CONT…</a:t>
            </a:r>
          </a:p>
        </p:txBody>
      </p:sp>
    </p:spTree>
    <p:extLst>
      <p:ext uri="{BB962C8B-B14F-4D97-AF65-F5344CB8AC3E}">
        <p14:creationId xmlns:p14="http://schemas.microsoft.com/office/powerpoint/2010/main" val="2026584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44C10-68EA-F985-A89C-0E5C9AE5F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93C129-9080-5846-E05E-C76A0A096514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84038F-2738-E5E6-C12B-DBCC725D3C11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22762B-8273-47AF-75CD-F579B39499BD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E7D416AD-6F26-AC8E-92C9-21E13D223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53207"/>
            <a:ext cx="12192000" cy="5704793"/>
          </a:xfrm>
        </p:spPr>
        <p:txBody>
          <a:bodyPr>
            <a:normAutofit/>
          </a:bodyPr>
          <a:lstStyle/>
          <a:p>
            <a:pPr lvl="2" algn="l">
              <a:lnSpc>
                <a:spcPct val="150000"/>
              </a:lnSpc>
            </a:pPr>
            <a:r>
              <a:rPr lang="en-US" sz="3200" dirty="0">
                <a:latin typeface="Times" panose="02020603050405020304" pitchFamily="18" charset="0"/>
                <a:hlinkClick r:id="rId3" action="ppaction://hlinkfile"/>
              </a:rPr>
              <a:t>Diagram Zero</a:t>
            </a:r>
            <a:endParaRPr lang="en-US" sz="3200" dirty="0">
              <a:latin typeface="Times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E0DE67-0BD3-047F-3935-22E49F264C09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FIVE: SYSTEM DESIGN CONT…</a:t>
            </a:r>
          </a:p>
        </p:txBody>
      </p:sp>
    </p:spTree>
    <p:extLst>
      <p:ext uri="{BB962C8B-B14F-4D97-AF65-F5344CB8AC3E}">
        <p14:creationId xmlns:p14="http://schemas.microsoft.com/office/powerpoint/2010/main" val="2860094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B7315-A302-CD3C-C486-AC9DB1C69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9A20A79-F3AC-C60C-F19D-B633C01FFD75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276E8F-DBD4-00D6-9086-9376E7209E5B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A6C86E-838B-8C59-85D4-59A8A4AB6F32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1113260C-B1B3-7265-FBBC-4FB8973E0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53207"/>
            <a:ext cx="12192000" cy="5704793"/>
          </a:xfrm>
        </p:spPr>
        <p:txBody>
          <a:bodyPr>
            <a:normAutofit/>
          </a:bodyPr>
          <a:lstStyle/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" panose="02020603050405020304" pitchFamily="18" charset="0"/>
              </a:rPr>
              <a:t>Database Design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" panose="02020603050405020304" pitchFamily="18" charset="0"/>
              </a:rPr>
              <a:t>Serves as a critical technological infrastructure that enables organized data management across various domains and applications (Chiang, 2009)</a:t>
            </a:r>
          </a:p>
          <a:p>
            <a:pPr marL="1257300" lvl="2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" panose="02020603050405020304" pitchFamily="18" charset="0"/>
              </a:rPr>
              <a:t>Designing a database produces:</a:t>
            </a:r>
          </a:p>
          <a:p>
            <a:pPr marL="1714500" lvl="3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Conceptual models - Focuses on identifying entities, their attributes and relationships. </a:t>
            </a:r>
            <a:r>
              <a:rPr lang="en-US" sz="2400" dirty="0">
                <a:latin typeface="Times" panose="02020603050405020304" pitchFamily="18" charset="0"/>
                <a:hlinkClick r:id="rId3" action="ppaction://hlinkfile"/>
              </a:rPr>
              <a:t>Entity Relationship Diagram for Wasihi System </a:t>
            </a:r>
            <a:endParaRPr lang="en-US" sz="2400" dirty="0">
              <a:latin typeface="Times" panose="02020603050405020304" pitchFamily="18" charset="0"/>
            </a:endParaRPr>
          </a:p>
          <a:p>
            <a:pPr marL="1714500" lvl="3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Physical models</a:t>
            </a:r>
          </a:p>
          <a:p>
            <a:pPr marL="1714500" lvl="3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" panose="02020603050405020304" pitchFamily="18" charset="0"/>
              </a:rPr>
              <a:t>Logical models - specifies the tables, columns, data types, and relationships. </a:t>
            </a:r>
            <a:r>
              <a:rPr lang="en-US" sz="2400" dirty="0">
                <a:latin typeface="Times" panose="02020603050405020304" pitchFamily="18" charset="0"/>
                <a:hlinkClick r:id="rId4" action="ppaction://hlinkfile"/>
              </a:rPr>
              <a:t>Wasihi Logical Models </a:t>
            </a:r>
            <a:endParaRPr lang="en-US" sz="2400" dirty="0">
              <a:latin typeface="Times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43C1B-3526-F8A1-5998-43542516C8B7}"/>
              </a:ext>
            </a:extLst>
          </p:cNvPr>
          <p:cNvSpPr txBox="1"/>
          <p:nvPr/>
        </p:nvSpPr>
        <p:spPr>
          <a:xfrm>
            <a:off x="983390" y="288761"/>
            <a:ext cx="105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FIVE: SYSTEM DESIGN CONT…</a:t>
            </a:r>
          </a:p>
        </p:txBody>
      </p:sp>
    </p:spTree>
    <p:extLst>
      <p:ext uri="{BB962C8B-B14F-4D97-AF65-F5344CB8AC3E}">
        <p14:creationId xmlns:p14="http://schemas.microsoft.com/office/powerpoint/2010/main" val="3346359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51F54-BAF6-1AAA-8F41-3E963510D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F32F95-FE91-D541-8B9D-3B3C3D60DCB7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9AA51B-39DF-BE61-7363-A088CBDBA963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FDD13A-0E00-56D2-FA92-19365C604829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47752D19-E4D9-C3DA-FA69-0925F9DDC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153207"/>
            <a:ext cx="11219128" cy="5704793"/>
          </a:xfrm>
        </p:spPr>
        <p:txBody>
          <a:bodyPr>
            <a:normAutofit/>
          </a:bodyPr>
          <a:lstStyle/>
          <a:p>
            <a:pPr algn="l">
              <a:buNone/>
            </a:pPr>
            <a:endParaRPr lang="en-US" dirty="0">
              <a:latin typeface="Times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963C2F-ECB5-6A97-14CE-B88B0728E42F}"/>
              </a:ext>
            </a:extLst>
          </p:cNvPr>
          <p:cNvSpPr txBox="1"/>
          <p:nvPr/>
        </p:nvSpPr>
        <p:spPr>
          <a:xfrm>
            <a:off x="3311091" y="288759"/>
            <a:ext cx="6217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TWO: LITERATURE REVIEW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B62019-187F-42AF-2096-3A735D33B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60" y="946263"/>
            <a:ext cx="11208609" cy="576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228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27C35-CF79-5F48-4162-B293A52FA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0CCC91-8522-F28E-A89E-132B4849ABB7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FDFD06-000D-8E26-B8E7-BD9EEC52D5EB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0E9B63-265C-9D4F-8DEC-AB1320E059F1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588B2F0B-D41A-99FC-DAB1-6B5CB822D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153207"/>
            <a:ext cx="11219128" cy="5704793"/>
          </a:xfrm>
        </p:spPr>
        <p:txBody>
          <a:bodyPr>
            <a:normAutofit/>
          </a:bodyPr>
          <a:lstStyle/>
          <a:p>
            <a:pPr algn="l">
              <a:buNone/>
            </a:pPr>
            <a:endParaRPr lang="en-US" dirty="0">
              <a:latin typeface="Times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A6ACD-5A6E-398F-9DA3-0BF75AF2BEAE}"/>
              </a:ext>
            </a:extLst>
          </p:cNvPr>
          <p:cNvSpPr txBox="1"/>
          <p:nvPr/>
        </p:nvSpPr>
        <p:spPr>
          <a:xfrm>
            <a:off x="3311091" y="288759"/>
            <a:ext cx="6217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TWO: LITERATURE REVIEW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7D4B77-5CCC-576D-6CCA-583FE98ECC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276" y="772176"/>
            <a:ext cx="12192073" cy="601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15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3AA6-AB82-4A96-D8C5-A7E22906C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3DA6E1-1BEE-EC5B-1D7E-40F9D53B775B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6A8FDE-8F74-A7CC-56F5-686F13B18F5B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B27036-3F24-C646-0A7B-53F28C0CDE26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5F9AA764-44C5-6A9A-962C-9AEA407B6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153207"/>
            <a:ext cx="11219128" cy="5704793"/>
          </a:xfrm>
        </p:spPr>
        <p:txBody>
          <a:bodyPr>
            <a:normAutofit/>
          </a:bodyPr>
          <a:lstStyle/>
          <a:p>
            <a:pPr algn="l">
              <a:buNone/>
            </a:pPr>
            <a:endParaRPr lang="en-US" dirty="0">
              <a:latin typeface="Times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1CB907-D292-5D9A-0686-C7EF2909AD94}"/>
              </a:ext>
            </a:extLst>
          </p:cNvPr>
          <p:cNvSpPr txBox="1"/>
          <p:nvPr/>
        </p:nvSpPr>
        <p:spPr>
          <a:xfrm>
            <a:off x="3311091" y="288759"/>
            <a:ext cx="6217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TWO: LITERATURE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5B6F6D-DD61-FB80-77A0-030E78F2BF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9" y="750424"/>
            <a:ext cx="12080441" cy="597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61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F50B8-D08D-9A64-047D-7FC8CD1B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D6E2CC-DC2A-BFEC-2A0A-7A44EC3E75F9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02158F-EB9E-CCB8-F5F9-585970BB7963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4E2CCD-A130-45B8-3E9B-6F65DB37AF04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3">
            <a:extLst>
              <a:ext uri="{FF2B5EF4-FFF2-40B4-BE49-F238E27FC236}">
                <a16:creationId xmlns:a16="http://schemas.microsoft.com/office/drawing/2014/main" id="{6B1D7312-F211-0C2F-5F36-07691B444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749" y="1153207"/>
            <a:ext cx="11219128" cy="5704793"/>
          </a:xfrm>
        </p:spPr>
        <p:txBody>
          <a:bodyPr>
            <a:normAutofit/>
          </a:bodyPr>
          <a:lstStyle/>
          <a:p>
            <a:pPr algn="l">
              <a:buNone/>
            </a:pPr>
            <a:endParaRPr lang="en-US" dirty="0">
              <a:latin typeface="Times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03D20B-11A4-471F-CC36-4D2C5108F7F7}"/>
              </a:ext>
            </a:extLst>
          </p:cNvPr>
          <p:cNvSpPr txBox="1"/>
          <p:nvPr/>
        </p:nvSpPr>
        <p:spPr>
          <a:xfrm>
            <a:off x="3311091" y="288759"/>
            <a:ext cx="6217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TWO: LITERATURE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439989-34F3-BF01-A25E-9B4B9CD42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098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2803A-2757-1027-2C6B-4263CD002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59D94A-34B1-5248-8905-F202A77AB69E}"/>
              </a:ext>
            </a:extLst>
          </p:cNvPr>
          <p:cNvCxnSpPr/>
          <p:nvPr/>
        </p:nvCxnSpPr>
        <p:spPr>
          <a:xfrm flipV="1">
            <a:off x="728749" y="925482"/>
            <a:ext cx="10964487" cy="4156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2DFAFA-3427-183E-A3A8-DF9344F53447}"/>
              </a:ext>
            </a:extLst>
          </p:cNvPr>
          <p:cNvCxnSpPr/>
          <p:nvPr/>
        </p:nvCxnSpPr>
        <p:spPr>
          <a:xfrm flipV="1">
            <a:off x="858982" y="1018563"/>
            <a:ext cx="10964487" cy="41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B68491-3D15-1ACA-2A6A-2253C119F993}"/>
              </a:ext>
            </a:extLst>
          </p:cNvPr>
          <p:cNvCxnSpPr/>
          <p:nvPr/>
        </p:nvCxnSpPr>
        <p:spPr>
          <a:xfrm flipV="1">
            <a:off x="983390" y="1111644"/>
            <a:ext cx="10964487" cy="4156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F769474-8E1F-8CC3-D3B3-AF73F1CEAE8B}"/>
              </a:ext>
            </a:extLst>
          </p:cNvPr>
          <p:cNvSpPr txBox="1"/>
          <p:nvPr/>
        </p:nvSpPr>
        <p:spPr>
          <a:xfrm>
            <a:off x="3311091" y="288759"/>
            <a:ext cx="6217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TWO: LITERATURE REVIEW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B8942E47-E6C0-BC8A-2BE4-EA24F5C036A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4592" y="802200"/>
            <a:ext cx="11783285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KE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Conclusion</a:t>
            </a:r>
            <a:endParaRPr kumimoji="0" lang="en-KE" altLang="en-K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Wasihi addresses security &amp; accessibility challenges.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Offers cost-effective, user-friendly, and secure collaboration.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Supports remote/hybrid work needs, empowering distributed teams.</a:t>
            </a:r>
            <a:endParaRPr kumimoji="0" lang="en-US" altLang="en-K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KE" altLang="en-K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KE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Recommendations</a:t>
            </a:r>
            <a:endParaRPr kumimoji="0" lang="en-KE" altLang="en-K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Integrate AI features (transcription, sentiment analysis, automation).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Explore AR/VR for richer collaboration.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Develop multi-tenant &amp; scalable architecture.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Conduct broader testing in varied organizational contexts</a:t>
            </a: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KE" altLang="en-K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620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4318</TotalTime>
  <Words>2066</Words>
  <Application>Microsoft Office PowerPoint</Application>
  <PresentationFormat>Widescreen</PresentationFormat>
  <Paragraphs>250</Paragraphs>
  <Slides>32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Segoe Sans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Training</dc:creator>
  <cp:lastModifiedBy>DANIEL MAINA GUTHUA</cp:lastModifiedBy>
  <cp:revision>130</cp:revision>
  <dcterms:created xsi:type="dcterms:W3CDTF">2020-08-10T15:51:32Z</dcterms:created>
  <dcterms:modified xsi:type="dcterms:W3CDTF">2025-09-29T07:47:02Z</dcterms:modified>
</cp:coreProperties>
</file>